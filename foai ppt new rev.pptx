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DM Sans" pitchFamily="2" charset="0"/>
      <p:regular r:id="rId14"/>
    </p:embeddedFont>
    <p:embeddedFont>
      <p:font typeface="Nyutro Sans" panose="020B0604020202020204" charset="0"/>
      <p:regular r:id="rId15"/>
    </p:embeddedFont>
    <p:embeddedFont>
      <p:font typeface="Open Sans" panose="020B0606030504020204" pitchFamily="34" charset="0"/>
      <p:regular r:id="rId16"/>
    </p:embeddedFont>
    <p:embeddedFont>
      <p:font typeface="Sego"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10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flipV="1">
            <a:off x="-328064" y="5377270"/>
            <a:ext cx="4262923" cy="5120628"/>
          </a:xfrm>
          <a:custGeom>
            <a:avLst/>
            <a:gdLst/>
            <a:ahLst/>
            <a:cxnLst/>
            <a:rect l="l" t="t" r="r" b="b"/>
            <a:pathLst>
              <a:path w="4262923" h="5120628">
                <a:moveTo>
                  <a:pt x="0" y="5120628"/>
                </a:moveTo>
                <a:lnTo>
                  <a:pt x="4262923" y="5120628"/>
                </a:lnTo>
                <a:lnTo>
                  <a:pt x="4262923" y="0"/>
                </a:lnTo>
                <a:lnTo>
                  <a:pt x="0" y="0"/>
                </a:lnTo>
                <a:lnTo>
                  <a:pt x="0" y="5120628"/>
                </a:lnTo>
                <a:close/>
              </a:path>
            </a:pathLst>
          </a:custGeom>
          <a:blipFill>
            <a:blip r:embed="rId3"/>
            <a:stretch>
              <a:fillRect/>
            </a:stretch>
          </a:blipFill>
        </p:spPr>
      </p:sp>
      <p:sp>
        <p:nvSpPr>
          <p:cNvPr id="4" name="Freeform 4"/>
          <p:cNvSpPr/>
          <p:nvPr/>
        </p:nvSpPr>
        <p:spPr>
          <a:xfrm>
            <a:off x="396309" y="7677681"/>
            <a:ext cx="16230600" cy="4037362"/>
          </a:xfrm>
          <a:custGeom>
            <a:avLst/>
            <a:gdLst/>
            <a:ahLst/>
            <a:cxnLst/>
            <a:rect l="l" t="t" r="r" b="b"/>
            <a:pathLst>
              <a:path w="16230600" h="4037362">
                <a:moveTo>
                  <a:pt x="0" y="0"/>
                </a:moveTo>
                <a:lnTo>
                  <a:pt x="16230600" y="0"/>
                </a:lnTo>
                <a:lnTo>
                  <a:pt x="16230600" y="4037362"/>
                </a:lnTo>
                <a:lnTo>
                  <a:pt x="0" y="4037362"/>
                </a:lnTo>
                <a:lnTo>
                  <a:pt x="0" y="0"/>
                </a:lnTo>
                <a:close/>
              </a:path>
            </a:pathLst>
          </a:custGeom>
          <a:blipFill>
            <a:blip r:embed="rId4"/>
            <a:stretch>
              <a:fillRect/>
            </a:stretch>
          </a:blipFill>
        </p:spPr>
      </p:sp>
      <p:sp>
        <p:nvSpPr>
          <p:cNvPr id="5" name="Freeform 5"/>
          <p:cNvSpPr/>
          <p:nvPr/>
        </p:nvSpPr>
        <p:spPr>
          <a:xfrm flipH="1">
            <a:off x="14269592" y="-227049"/>
            <a:ext cx="4262923" cy="5120628"/>
          </a:xfrm>
          <a:custGeom>
            <a:avLst/>
            <a:gdLst/>
            <a:ahLst/>
            <a:cxnLst/>
            <a:rect l="l" t="t" r="r" b="b"/>
            <a:pathLst>
              <a:path w="4262923" h="5120628">
                <a:moveTo>
                  <a:pt x="4262922" y="0"/>
                </a:moveTo>
                <a:lnTo>
                  <a:pt x="0" y="0"/>
                </a:lnTo>
                <a:lnTo>
                  <a:pt x="0" y="5120628"/>
                </a:lnTo>
                <a:lnTo>
                  <a:pt x="4262922" y="5120628"/>
                </a:lnTo>
                <a:lnTo>
                  <a:pt x="4262922" y="0"/>
                </a:lnTo>
                <a:close/>
              </a:path>
            </a:pathLst>
          </a:custGeom>
          <a:blipFill>
            <a:blip r:embed="rId3"/>
            <a:stretch>
              <a:fillRect/>
            </a:stretch>
          </a:blipFill>
        </p:spPr>
      </p:sp>
      <p:sp>
        <p:nvSpPr>
          <p:cNvPr id="6" name="TextBox 6"/>
          <p:cNvSpPr txBox="1"/>
          <p:nvPr/>
        </p:nvSpPr>
        <p:spPr>
          <a:xfrm>
            <a:off x="9144000" y="8488512"/>
            <a:ext cx="10941040" cy="562940"/>
          </a:xfrm>
          <a:prstGeom prst="rect">
            <a:avLst/>
          </a:prstGeom>
        </p:spPr>
        <p:txBody>
          <a:bodyPr lIns="0" tIns="0" rIns="0" bIns="0" rtlCol="0" anchor="t">
            <a:spAutoFit/>
          </a:bodyPr>
          <a:lstStyle/>
          <a:p>
            <a:pPr algn="ctr">
              <a:lnSpc>
                <a:spcPts val="4146"/>
              </a:lnSpc>
            </a:pPr>
            <a:r>
              <a:rPr lang="en-US" sz="2961">
                <a:solidFill>
                  <a:srgbClr val="161B1C"/>
                </a:solidFill>
                <a:latin typeface="Nyutro Sans"/>
                <a:ea typeface="Nyutro Sans"/>
                <a:cs typeface="Nyutro Sans"/>
                <a:sym typeface="Nyutro Sans"/>
              </a:rPr>
              <a:t>BY</a:t>
            </a:r>
          </a:p>
        </p:txBody>
      </p:sp>
      <p:sp>
        <p:nvSpPr>
          <p:cNvPr id="7" name="TextBox 7"/>
          <p:cNvSpPr txBox="1"/>
          <p:nvPr/>
        </p:nvSpPr>
        <p:spPr>
          <a:xfrm>
            <a:off x="2251744" y="2288062"/>
            <a:ext cx="14149309" cy="5770811"/>
          </a:xfrm>
          <a:prstGeom prst="rect">
            <a:avLst/>
          </a:prstGeom>
        </p:spPr>
        <p:txBody>
          <a:bodyPr lIns="0" tIns="0" rIns="0" bIns="0" rtlCol="0" anchor="t">
            <a:spAutoFit/>
          </a:bodyPr>
          <a:lstStyle/>
          <a:p>
            <a:pPr algn="ctr">
              <a:lnSpc>
                <a:spcPts val="8839"/>
              </a:lnSpc>
            </a:pPr>
            <a:endParaRPr dirty="0"/>
          </a:p>
          <a:p>
            <a:pPr algn="ctr">
              <a:lnSpc>
                <a:spcPts val="8839"/>
              </a:lnSpc>
            </a:pPr>
            <a:r>
              <a:rPr lang="en-US" sz="6314" dirty="0">
                <a:solidFill>
                  <a:srgbClr val="161B1C"/>
                </a:solidFill>
                <a:latin typeface="Sego"/>
                <a:ea typeface="Sego"/>
                <a:cs typeface="Sego"/>
                <a:sym typeface="Sego"/>
              </a:rPr>
              <a:t>Smart Hackathon Team Formation System</a:t>
            </a:r>
          </a:p>
          <a:p>
            <a:pPr algn="ctr">
              <a:lnSpc>
                <a:spcPts val="24796"/>
              </a:lnSpc>
            </a:pPr>
            <a:endParaRPr lang="en-US" sz="6314" dirty="0">
              <a:solidFill>
                <a:srgbClr val="161B1C"/>
              </a:solidFill>
              <a:latin typeface="Sego"/>
              <a:ea typeface="Sego"/>
              <a:cs typeface="Sego"/>
              <a:sym typeface="Sego"/>
            </a:endParaRPr>
          </a:p>
        </p:txBody>
      </p:sp>
      <p:sp>
        <p:nvSpPr>
          <p:cNvPr id="8" name="TextBox 8"/>
          <p:cNvSpPr txBox="1"/>
          <p:nvPr/>
        </p:nvSpPr>
        <p:spPr>
          <a:xfrm>
            <a:off x="6999883" y="188606"/>
            <a:ext cx="4288234" cy="546183"/>
          </a:xfrm>
          <a:prstGeom prst="rect">
            <a:avLst/>
          </a:prstGeom>
        </p:spPr>
        <p:txBody>
          <a:bodyPr lIns="0" tIns="0" rIns="0" bIns="0" rtlCol="0" anchor="t">
            <a:spAutoFit/>
          </a:bodyPr>
          <a:lstStyle/>
          <a:p>
            <a:pPr algn="ctr">
              <a:lnSpc>
                <a:spcPts val="4545"/>
              </a:lnSpc>
            </a:pPr>
            <a:r>
              <a:rPr lang="en-US" sz="3246">
                <a:solidFill>
                  <a:srgbClr val="161B1C"/>
                </a:solidFill>
                <a:latin typeface="DM Sans"/>
                <a:ea typeface="DM Sans"/>
                <a:cs typeface="DM Sans"/>
                <a:sym typeface="DM Sans"/>
              </a:rPr>
              <a:t>Foundation of AI</a:t>
            </a:r>
          </a:p>
        </p:txBody>
      </p:sp>
      <p:sp>
        <p:nvSpPr>
          <p:cNvPr id="9" name="TextBox 9"/>
          <p:cNvSpPr txBox="1"/>
          <p:nvPr/>
        </p:nvSpPr>
        <p:spPr>
          <a:xfrm>
            <a:off x="8754531" y="9003828"/>
            <a:ext cx="14149309" cy="772435"/>
          </a:xfrm>
          <a:prstGeom prst="rect">
            <a:avLst/>
          </a:prstGeom>
        </p:spPr>
        <p:txBody>
          <a:bodyPr lIns="0" tIns="0" rIns="0" bIns="0" rtlCol="0" anchor="t">
            <a:spAutoFit/>
          </a:bodyPr>
          <a:lstStyle/>
          <a:p>
            <a:pPr algn="ctr">
              <a:lnSpc>
                <a:spcPts val="3099"/>
              </a:lnSpc>
            </a:pPr>
            <a:r>
              <a:rPr lang="en-US" sz="2214">
                <a:solidFill>
                  <a:srgbClr val="161B1C"/>
                </a:solidFill>
                <a:latin typeface="Sego"/>
                <a:ea typeface="Sego"/>
                <a:cs typeface="Sego"/>
                <a:sym typeface="Sego"/>
              </a:rPr>
              <a:t>MUKUNDHAN MV</a:t>
            </a:r>
          </a:p>
          <a:p>
            <a:pPr algn="just">
              <a:lnSpc>
                <a:spcPts val="3099"/>
              </a:lnSpc>
              <a:spcBef>
                <a:spcPct val="0"/>
              </a:spcBef>
            </a:pPr>
            <a:r>
              <a:rPr lang="en-US" sz="2214">
                <a:solidFill>
                  <a:srgbClr val="161B1C"/>
                </a:solidFill>
                <a:latin typeface="Sego"/>
                <a:ea typeface="Sego"/>
                <a:cs typeface="Sego"/>
                <a:sym typeface="Sego"/>
              </a:rPr>
              <a:t>                                                                                     CHANDRU RR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rot="5400000" flipH="1">
            <a:off x="-3306107" y="5694113"/>
            <a:ext cx="7603204" cy="1891297"/>
          </a:xfrm>
          <a:custGeom>
            <a:avLst/>
            <a:gdLst/>
            <a:ahLst/>
            <a:cxnLst/>
            <a:rect l="l" t="t" r="r" b="b"/>
            <a:pathLst>
              <a:path w="7603204" h="1891297">
                <a:moveTo>
                  <a:pt x="7603204" y="0"/>
                </a:moveTo>
                <a:lnTo>
                  <a:pt x="0" y="0"/>
                </a:lnTo>
                <a:lnTo>
                  <a:pt x="0" y="1891297"/>
                </a:lnTo>
                <a:lnTo>
                  <a:pt x="7603204" y="1891297"/>
                </a:lnTo>
                <a:lnTo>
                  <a:pt x="7603204" y="0"/>
                </a:lnTo>
                <a:close/>
              </a:path>
            </a:pathLst>
          </a:custGeom>
          <a:blipFill>
            <a:blip r:embed="rId3"/>
            <a:stretch>
              <a:fillRect/>
            </a:stretch>
          </a:blipFill>
        </p:spPr>
      </p:sp>
      <p:sp>
        <p:nvSpPr>
          <p:cNvPr id="4" name="Freeform 4"/>
          <p:cNvSpPr/>
          <p:nvPr/>
        </p:nvSpPr>
        <p:spPr>
          <a:xfrm>
            <a:off x="-450153" y="-434233"/>
            <a:ext cx="4262923" cy="5120628"/>
          </a:xfrm>
          <a:custGeom>
            <a:avLst/>
            <a:gdLst/>
            <a:ahLst/>
            <a:cxnLst/>
            <a:rect l="l" t="t" r="r" b="b"/>
            <a:pathLst>
              <a:path w="4262923" h="5120628">
                <a:moveTo>
                  <a:pt x="0" y="0"/>
                </a:moveTo>
                <a:lnTo>
                  <a:pt x="4262923" y="0"/>
                </a:lnTo>
                <a:lnTo>
                  <a:pt x="4262923" y="5120627"/>
                </a:lnTo>
                <a:lnTo>
                  <a:pt x="0" y="5120627"/>
                </a:lnTo>
                <a:lnTo>
                  <a:pt x="0" y="0"/>
                </a:lnTo>
                <a:close/>
              </a:path>
            </a:pathLst>
          </a:custGeom>
          <a:blipFill>
            <a:blip r:embed="rId4"/>
            <a:stretch>
              <a:fillRect/>
            </a:stretch>
          </a:blipFill>
        </p:spPr>
      </p:sp>
      <p:sp>
        <p:nvSpPr>
          <p:cNvPr id="5" name="Freeform 5"/>
          <p:cNvSpPr/>
          <p:nvPr/>
        </p:nvSpPr>
        <p:spPr>
          <a:xfrm rot="5400000" flipV="1">
            <a:off x="13994907" y="2627353"/>
            <a:ext cx="7603204" cy="1891297"/>
          </a:xfrm>
          <a:custGeom>
            <a:avLst/>
            <a:gdLst/>
            <a:ahLst/>
            <a:cxnLst/>
            <a:rect l="l" t="t" r="r" b="b"/>
            <a:pathLst>
              <a:path w="7603204" h="1891297">
                <a:moveTo>
                  <a:pt x="0" y="1891297"/>
                </a:moveTo>
                <a:lnTo>
                  <a:pt x="7603203" y="1891297"/>
                </a:lnTo>
                <a:lnTo>
                  <a:pt x="7603203" y="0"/>
                </a:lnTo>
                <a:lnTo>
                  <a:pt x="0" y="0"/>
                </a:lnTo>
                <a:lnTo>
                  <a:pt x="0" y="1891297"/>
                </a:lnTo>
                <a:close/>
              </a:path>
            </a:pathLst>
          </a:custGeom>
          <a:blipFill>
            <a:blip r:embed="rId3"/>
            <a:stretch>
              <a:fillRect/>
            </a:stretch>
          </a:blipFill>
        </p:spPr>
      </p:sp>
      <p:sp>
        <p:nvSpPr>
          <p:cNvPr id="6" name="Freeform 6"/>
          <p:cNvSpPr/>
          <p:nvPr/>
        </p:nvSpPr>
        <p:spPr>
          <a:xfrm flipH="1" flipV="1">
            <a:off x="14324509" y="5585433"/>
            <a:ext cx="4262923" cy="5120628"/>
          </a:xfrm>
          <a:custGeom>
            <a:avLst/>
            <a:gdLst/>
            <a:ahLst/>
            <a:cxnLst/>
            <a:rect l="l" t="t" r="r" b="b"/>
            <a:pathLst>
              <a:path w="4262923" h="5120628">
                <a:moveTo>
                  <a:pt x="4262923" y="5120628"/>
                </a:moveTo>
                <a:lnTo>
                  <a:pt x="0" y="5120628"/>
                </a:lnTo>
                <a:lnTo>
                  <a:pt x="0" y="0"/>
                </a:lnTo>
                <a:lnTo>
                  <a:pt x="4262923" y="0"/>
                </a:lnTo>
                <a:lnTo>
                  <a:pt x="4262923" y="5120628"/>
                </a:lnTo>
                <a:close/>
              </a:path>
            </a:pathLst>
          </a:custGeom>
          <a:blipFill>
            <a:blip r:embed="rId4"/>
            <a:stretch>
              <a:fillRect/>
            </a:stretch>
          </a:blipFill>
        </p:spPr>
      </p:sp>
      <p:sp>
        <p:nvSpPr>
          <p:cNvPr id="7" name="TextBox 7"/>
          <p:cNvSpPr txBox="1"/>
          <p:nvPr/>
        </p:nvSpPr>
        <p:spPr>
          <a:xfrm>
            <a:off x="1802959" y="3556514"/>
            <a:ext cx="14686086" cy="5440553"/>
          </a:xfrm>
          <a:prstGeom prst="rect">
            <a:avLst/>
          </a:prstGeom>
        </p:spPr>
        <p:txBody>
          <a:bodyPr lIns="0" tIns="0" rIns="0" bIns="0" rtlCol="0" anchor="t">
            <a:spAutoFit/>
          </a:bodyPr>
          <a:lstStyle/>
          <a:p>
            <a:pPr algn="ctr">
              <a:lnSpc>
                <a:spcPts val="4681"/>
              </a:lnSpc>
            </a:pPr>
            <a:endParaRPr/>
          </a:p>
          <a:p>
            <a:pPr algn="just">
              <a:lnSpc>
                <a:spcPts val="5586"/>
              </a:lnSpc>
            </a:pPr>
            <a:r>
              <a:rPr lang="en-US" sz="3699">
                <a:solidFill>
                  <a:srgbClr val="161B1C"/>
                </a:solidFill>
                <a:latin typeface="Nyutro Sans"/>
                <a:ea typeface="Nyutro Sans"/>
                <a:cs typeface="Nyutro Sans"/>
                <a:sym typeface="Nyutro Sans"/>
              </a:rPr>
              <a:t>A smart hackathon platform that helps students form teams, discover incomplete teams, send join or merge requests, and register for hackathons. Organizers can create and manage hackathons, define participation rules, and monitor teams. The platform provides centralized and reliable management of hackathon activities, with AI-based team matching planned as a future enhancement.</a:t>
            </a:r>
          </a:p>
          <a:p>
            <a:pPr algn="ctr">
              <a:lnSpc>
                <a:spcPts val="4681"/>
              </a:lnSpc>
            </a:pPr>
            <a:endParaRPr lang="en-US" sz="3699">
              <a:solidFill>
                <a:srgbClr val="161B1C"/>
              </a:solidFill>
              <a:latin typeface="Nyutro Sans"/>
              <a:ea typeface="Nyutro Sans"/>
              <a:cs typeface="Nyutro Sans"/>
              <a:sym typeface="Nyutro Sans"/>
            </a:endParaRPr>
          </a:p>
        </p:txBody>
      </p:sp>
      <p:sp>
        <p:nvSpPr>
          <p:cNvPr id="8" name="TextBox 8"/>
          <p:cNvSpPr txBox="1"/>
          <p:nvPr/>
        </p:nvSpPr>
        <p:spPr>
          <a:xfrm>
            <a:off x="4539196" y="1720299"/>
            <a:ext cx="9209608" cy="1543050"/>
          </a:xfrm>
          <a:prstGeom prst="rect">
            <a:avLst/>
          </a:prstGeom>
        </p:spPr>
        <p:txBody>
          <a:bodyPr lIns="0" tIns="0" rIns="0" bIns="0" rtlCol="0" anchor="t">
            <a:spAutoFit/>
          </a:bodyPr>
          <a:lstStyle/>
          <a:p>
            <a:pPr algn="ctr">
              <a:lnSpc>
                <a:spcPts val="12599"/>
              </a:lnSpc>
            </a:pPr>
            <a:r>
              <a:rPr lang="en-US" sz="9000">
                <a:solidFill>
                  <a:srgbClr val="161B1C"/>
                </a:solidFill>
                <a:latin typeface="Sego"/>
                <a:ea typeface="Sego"/>
                <a:cs typeface="Sego"/>
                <a:sym typeface="Sego"/>
              </a:rPr>
              <a:t>Abstract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rot="5400000" flipH="1">
            <a:off x="-3306107" y="5694113"/>
            <a:ext cx="7603204" cy="1891297"/>
          </a:xfrm>
          <a:custGeom>
            <a:avLst/>
            <a:gdLst/>
            <a:ahLst/>
            <a:cxnLst/>
            <a:rect l="l" t="t" r="r" b="b"/>
            <a:pathLst>
              <a:path w="7603204" h="1891297">
                <a:moveTo>
                  <a:pt x="7603204" y="0"/>
                </a:moveTo>
                <a:lnTo>
                  <a:pt x="0" y="0"/>
                </a:lnTo>
                <a:lnTo>
                  <a:pt x="0" y="1891297"/>
                </a:lnTo>
                <a:lnTo>
                  <a:pt x="7603204" y="1891297"/>
                </a:lnTo>
                <a:lnTo>
                  <a:pt x="7603204" y="0"/>
                </a:lnTo>
                <a:close/>
              </a:path>
            </a:pathLst>
          </a:custGeom>
          <a:blipFill>
            <a:blip r:embed="rId3"/>
            <a:stretch>
              <a:fillRect/>
            </a:stretch>
          </a:blipFill>
        </p:spPr>
      </p:sp>
      <p:sp>
        <p:nvSpPr>
          <p:cNvPr id="4" name="Freeform 4"/>
          <p:cNvSpPr/>
          <p:nvPr/>
        </p:nvSpPr>
        <p:spPr>
          <a:xfrm>
            <a:off x="-450153" y="-434233"/>
            <a:ext cx="4262923" cy="5120628"/>
          </a:xfrm>
          <a:custGeom>
            <a:avLst/>
            <a:gdLst/>
            <a:ahLst/>
            <a:cxnLst/>
            <a:rect l="l" t="t" r="r" b="b"/>
            <a:pathLst>
              <a:path w="4262923" h="5120628">
                <a:moveTo>
                  <a:pt x="0" y="0"/>
                </a:moveTo>
                <a:lnTo>
                  <a:pt x="4262923" y="0"/>
                </a:lnTo>
                <a:lnTo>
                  <a:pt x="4262923" y="5120627"/>
                </a:lnTo>
                <a:lnTo>
                  <a:pt x="0" y="5120627"/>
                </a:lnTo>
                <a:lnTo>
                  <a:pt x="0" y="0"/>
                </a:lnTo>
                <a:close/>
              </a:path>
            </a:pathLst>
          </a:custGeom>
          <a:blipFill>
            <a:blip r:embed="rId4"/>
            <a:stretch>
              <a:fillRect/>
            </a:stretch>
          </a:blipFill>
        </p:spPr>
      </p:sp>
      <p:sp>
        <p:nvSpPr>
          <p:cNvPr id="5" name="Freeform 5"/>
          <p:cNvSpPr/>
          <p:nvPr/>
        </p:nvSpPr>
        <p:spPr>
          <a:xfrm rot="5400000" flipV="1">
            <a:off x="13994907" y="2627353"/>
            <a:ext cx="7603204" cy="1891297"/>
          </a:xfrm>
          <a:custGeom>
            <a:avLst/>
            <a:gdLst/>
            <a:ahLst/>
            <a:cxnLst/>
            <a:rect l="l" t="t" r="r" b="b"/>
            <a:pathLst>
              <a:path w="7603204" h="1891297">
                <a:moveTo>
                  <a:pt x="0" y="1891297"/>
                </a:moveTo>
                <a:lnTo>
                  <a:pt x="7603203" y="1891297"/>
                </a:lnTo>
                <a:lnTo>
                  <a:pt x="7603203" y="0"/>
                </a:lnTo>
                <a:lnTo>
                  <a:pt x="0" y="0"/>
                </a:lnTo>
                <a:lnTo>
                  <a:pt x="0" y="1891297"/>
                </a:lnTo>
                <a:close/>
              </a:path>
            </a:pathLst>
          </a:custGeom>
          <a:blipFill>
            <a:blip r:embed="rId3"/>
            <a:stretch>
              <a:fillRect/>
            </a:stretch>
          </a:blipFill>
        </p:spPr>
      </p:sp>
      <p:sp>
        <p:nvSpPr>
          <p:cNvPr id="6" name="Freeform 6"/>
          <p:cNvSpPr/>
          <p:nvPr/>
        </p:nvSpPr>
        <p:spPr>
          <a:xfrm flipH="1" flipV="1">
            <a:off x="14324509" y="5585433"/>
            <a:ext cx="4262923" cy="5120628"/>
          </a:xfrm>
          <a:custGeom>
            <a:avLst/>
            <a:gdLst/>
            <a:ahLst/>
            <a:cxnLst/>
            <a:rect l="l" t="t" r="r" b="b"/>
            <a:pathLst>
              <a:path w="4262923" h="5120628">
                <a:moveTo>
                  <a:pt x="4262923" y="5120628"/>
                </a:moveTo>
                <a:lnTo>
                  <a:pt x="0" y="5120628"/>
                </a:lnTo>
                <a:lnTo>
                  <a:pt x="0" y="0"/>
                </a:lnTo>
                <a:lnTo>
                  <a:pt x="4262923" y="0"/>
                </a:lnTo>
                <a:lnTo>
                  <a:pt x="4262923" y="5120628"/>
                </a:lnTo>
                <a:close/>
              </a:path>
            </a:pathLst>
          </a:custGeom>
          <a:blipFill>
            <a:blip r:embed="rId4"/>
            <a:stretch>
              <a:fillRect/>
            </a:stretch>
          </a:blipFill>
        </p:spPr>
      </p:sp>
      <p:sp>
        <p:nvSpPr>
          <p:cNvPr id="10" name="TextBox 10"/>
          <p:cNvSpPr txBox="1"/>
          <p:nvPr/>
        </p:nvSpPr>
        <p:spPr>
          <a:xfrm>
            <a:off x="2747260" y="3110949"/>
            <a:ext cx="13315559" cy="5749290"/>
          </a:xfrm>
          <a:prstGeom prst="rect">
            <a:avLst/>
          </a:prstGeom>
        </p:spPr>
        <p:txBody>
          <a:bodyPr lIns="0" tIns="0" rIns="0" bIns="0" rtlCol="0" anchor="t">
            <a:spAutoFit/>
          </a:bodyPr>
          <a:lstStyle/>
          <a:p>
            <a:pPr algn="just">
              <a:lnSpc>
                <a:spcPts val="4530"/>
              </a:lnSpc>
            </a:pPr>
            <a:endParaRPr/>
          </a:p>
          <a:p>
            <a:pPr algn="just">
              <a:lnSpc>
                <a:spcPts val="4530"/>
              </a:lnSpc>
            </a:pPr>
            <a:r>
              <a:rPr lang="en-US" sz="3000">
                <a:solidFill>
                  <a:srgbClr val="161B1C"/>
                </a:solidFill>
                <a:latin typeface="Nyutro Sans"/>
                <a:ea typeface="Nyutro Sans"/>
                <a:cs typeface="Nyutro Sans"/>
                <a:sym typeface="Nyutro Sans"/>
              </a:rPr>
              <a:t>Students often face difficulty in finding suitable teammates and forming complete teams for hackathons. Existing methods rely on manual communication and do not provide an organized way to discover incomplete teams, join teams, merge partial teams, and manage registrations.</a:t>
            </a:r>
          </a:p>
          <a:p>
            <a:pPr algn="just">
              <a:lnSpc>
                <a:spcPts val="4530"/>
              </a:lnSpc>
            </a:pPr>
            <a:r>
              <a:rPr lang="en-US" sz="3000">
                <a:solidFill>
                  <a:srgbClr val="161B1C"/>
                </a:solidFill>
                <a:latin typeface="Nyutro Sans"/>
                <a:ea typeface="Nyutro Sans"/>
                <a:cs typeface="Nyutro Sans"/>
                <a:sym typeface="Nyutro Sans"/>
              </a:rPr>
              <a:t>Organizers also need an efficient system to create hackathons, define rules, manage teams, and monitor participation. Therefore, there is a need for a centralized platform that simplifies hackathon management and team formation.</a:t>
            </a:r>
          </a:p>
          <a:p>
            <a:pPr algn="just">
              <a:lnSpc>
                <a:spcPts val="4530"/>
              </a:lnSpc>
            </a:pPr>
            <a:endParaRPr lang="en-US" sz="3000">
              <a:solidFill>
                <a:srgbClr val="161B1C"/>
              </a:solidFill>
              <a:latin typeface="Nyutro Sans"/>
              <a:ea typeface="Nyutro Sans"/>
              <a:cs typeface="Nyutro Sans"/>
              <a:sym typeface="Nyutro Sans"/>
            </a:endParaRPr>
          </a:p>
        </p:txBody>
      </p:sp>
      <p:sp>
        <p:nvSpPr>
          <p:cNvPr id="11" name="TextBox 11"/>
          <p:cNvSpPr txBox="1"/>
          <p:nvPr/>
        </p:nvSpPr>
        <p:spPr>
          <a:xfrm>
            <a:off x="4539196" y="1720299"/>
            <a:ext cx="10775612" cy="1543050"/>
          </a:xfrm>
          <a:prstGeom prst="rect">
            <a:avLst/>
          </a:prstGeom>
        </p:spPr>
        <p:txBody>
          <a:bodyPr lIns="0" tIns="0" rIns="0" bIns="0" rtlCol="0" anchor="t">
            <a:spAutoFit/>
          </a:bodyPr>
          <a:lstStyle/>
          <a:p>
            <a:pPr algn="ctr">
              <a:lnSpc>
                <a:spcPts val="12599"/>
              </a:lnSpc>
            </a:pPr>
            <a:r>
              <a:rPr lang="en-US" sz="9000">
                <a:solidFill>
                  <a:srgbClr val="161B1C"/>
                </a:solidFill>
                <a:latin typeface="Sego"/>
                <a:ea typeface="Sego"/>
                <a:cs typeface="Sego"/>
                <a:sym typeface="Sego"/>
              </a:rPr>
              <a:t>Problem Statement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rot="5400000" flipH="1">
            <a:off x="-3306107" y="5694113"/>
            <a:ext cx="7603204" cy="1891297"/>
          </a:xfrm>
          <a:custGeom>
            <a:avLst/>
            <a:gdLst/>
            <a:ahLst/>
            <a:cxnLst/>
            <a:rect l="l" t="t" r="r" b="b"/>
            <a:pathLst>
              <a:path w="7603204" h="1891297">
                <a:moveTo>
                  <a:pt x="7603204" y="0"/>
                </a:moveTo>
                <a:lnTo>
                  <a:pt x="0" y="0"/>
                </a:lnTo>
                <a:lnTo>
                  <a:pt x="0" y="1891297"/>
                </a:lnTo>
                <a:lnTo>
                  <a:pt x="7603204" y="1891297"/>
                </a:lnTo>
                <a:lnTo>
                  <a:pt x="7603204" y="0"/>
                </a:lnTo>
                <a:close/>
              </a:path>
            </a:pathLst>
          </a:custGeom>
          <a:blipFill>
            <a:blip r:embed="rId3"/>
            <a:stretch>
              <a:fillRect/>
            </a:stretch>
          </a:blipFill>
        </p:spPr>
      </p:sp>
      <p:sp>
        <p:nvSpPr>
          <p:cNvPr id="4" name="Freeform 4"/>
          <p:cNvSpPr/>
          <p:nvPr/>
        </p:nvSpPr>
        <p:spPr>
          <a:xfrm>
            <a:off x="-450153" y="-434233"/>
            <a:ext cx="4262923" cy="5120628"/>
          </a:xfrm>
          <a:custGeom>
            <a:avLst/>
            <a:gdLst/>
            <a:ahLst/>
            <a:cxnLst/>
            <a:rect l="l" t="t" r="r" b="b"/>
            <a:pathLst>
              <a:path w="4262923" h="5120628">
                <a:moveTo>
                  <a:pt x="0" y="0"/>
                </a:moveTo>
                <a:lnTo>
                  <a:pt x="4262923" y="0"/>
                </a:lnTo>
                <a:lnTo>
                  <a:pt x="4262923" y="5120627"/>
                </a:lnTo>
                <a:lnTo>
                  <a:pt x="0" y="5120627"/>
                </a:lnTo>
                <a:lnTo>
                  <a:pt x="0" y="0"/>
                </a:lnTo>
                <a:close/>
              </a:path>
            </a:pathLst>
          </a:custGeom>
          <a:blipFill>
            <a:blip r:embed="rId4"/>
            <a:stretch>
              <a:fillRect/>
            </a:stretch>
          </a:blipFill>
        </p:spPr>
      </p:sp>
      <p:sp>
        <p:nvSpPr>
          <p:cNvPr id="5" name="Freeform 5"/>
          <p:cNvSpPr/>
          <p:nvPr/>
        </p:nvSpPr>
        <p:spPr>
          <a:xfrm rot="5400000" flipV="1">
            <a:off x="13994907" y="2627353"/>
            <a:ext cx="7603204" cy="1891297"/>
          </a:xfrm>
          <a:custGeom>
            <a:avLst/>
            <a:gdLst/>
            <a:ahLst/>
            <a:cxnLst/>
            <a:rect l="l" t="t" r="r" b="b"/>
            <a:pathLst>
              <a:path w="7603204" h="1891297">
                <a:moveTo>
                  <a:pt x="0" y="1891297"/>
                </a:moveTo>
                <a:lnTo>
                  <a:pt x="7603203" y="1891297"/>
                </a:lnTo>
                <a:lnTo>
                  <a:pt x="7603203" y="0"/>
                </a:lnTo>
                <a:lnTo>
                  <a:pt x="0" y="0"/>
                </a:lnTo>
                <a:lnTo>
                  <a:pt x="0" y="1891297"/>
                </a:lnTo>
                <a:close/>
              </a:path>
            </a:pathLst>
          </a:custGeom>
          <a:blipFill>
            <a:blip r:embed="rId3"/>
            <a:stretch>
              <a:fillRect/>
            </a:stretch>
          </a:blipFill>
        </p:spPr>
      </p:sp>
      <p:sp>
        <p:nvSpPr>
          <p:cNvPr id="6" name="Freeform 6"/>
          <p:cNvSpPr/>
          <p:nvPr/>
        </p:nvSpPr>
        <p:spPr>
          <a:xfrm flipH="1" flipV="1">
            <a:off x="14324509" y="5585433"/>
            <a:ext cx="4262923" cy="5120628"/>
          </a:xfrm>
          <a:custGeom>
            <a:avLst/>
            <a:gdLst/>
            <a:ahLst/>
            <a:cxnLst/>
            <a:rect l="l" t="t" r="r" b="b"/>
            <a:pathLst>
              <a:path w="4262923" h="5120628">
                <a:moveTo>
                  <a:pt x="4262923" y="5120628"/>
                </a:moveTo>
                <a:lnTo>
                  <a:pt x="0" y="5120628"/>
                </a:lnTo>
                <a:lnTo>
                  <a:pt x="0" y="0"/>
                </a:lnTo>
                <a:lnTo>
                  <a:pt x="4262923" y="0"/>
                </a:lnTo>
                <a:lnTo>
                  <a:pt x="4262923" y="5120628"/>
                </a:lnTo>
                <a:close/>
              </a:path>
            </a:pathLst>
          </a:custGeom>
          <a:blipFill>
            <a:blip r:embed="rId4"/>
            <a:stretch>
              <a:fillRect/>
            </a:stretch>
          </a:blipFill>
        </p:spPr>
      </p:sp>
      <p:grpSp>
        <p:nvGrpSpPr>
          <p:cNvPr id="10" name="Group 10"/>
          <p:cNvGrpSpPr/>
          <p:nvPr/>
        </p:nvGrpSpPr>
        <p:grpSpPr>
          <a:xfrm>
            <a:off x="3670959" y="6639761"/>
            <a:ext cx="283620" cy="28362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D869A"/>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4669687" y="1121483"/>
            <a:ext cx="9209608" cy="1543050"/>
          </a:xfrm>
          <a:prstGeom prst="rect">
            <a:avLst/>
          </a:prstGeom>
        </p:spPr>
        <p:txBody>
          <a:bodyPr lIns="0" tIns="0" rIns="0" bIns="0" rtlCol="0" anchor="t">
            <a:spAutoFit/>
          </a:bodyPr>
          <a:lstStyle/>
          <a:p>
            <a:pPr algn="ctr">
              <a:lnSpc>
                <a:spcPts val="12599"/>
              </a:lnSpc>
            </a:pPr>
            <a:r>
              <a:rPr lang="en-US" sz="9000">
                <a:solidFill>
                  <a:srgbClr val="161B1C"/>
                </a:solidFill>
                <a:latin typeface="Sego"/>
                <a:ea typeface="Sego"/>
                <a:cs typeface="Sego"/>
                <a:sym typeface="Sego"/>
              </a:rPr>
              <a:t>Literature Survey</a:t>
            </a:r>
          </a:p>
        </p:txBody>
      </p:sp>
      <p:sp>
        <p:nvSpPr>
          <p:cNvPr id="14" name="TextBox 14"/>
          <p:cNvSpPr txBox="1"/>
          <p:nvPr/>
        </p:nvSpPr>
        <p:spPr>
          <a:xfrm>
            <a:off x="4184565" y="6488397"/>
            <a:ext cx="11448763" cy="1802003"/>
          </a:xfrm>
          <a:prstGeom prst="rect">
            <a:avLst/>
          </a:prstGeom>
        </p:spPr>
        <p:txBody>
          <a:bodyPr lIns="0" tIns="0" rIns="0" bIns="0" rtlCol="0" anchor="t">
            <a:spAutoFit/>
          </a:bodyPr>
          <a:lstStyle/>
          <a:p>
            <a:pPr algn="just">
              <a:lnSpc>
                <a:spcPts val="4681"/>
              </a:lnSpc>
            </a:pPr>
            <a:r>
              <a:rPr lang="en-US" sz="3100">
                <a:solidFill>
                  <a:srgbClr val="161B1C"/>
                </a:solidFill>
                <a:latin typeface="Nyutro Sans"/>
                <a:ea typeface="Nyutro Sans"/>
                <a:cs typeface="Nyutro Sans"/>
                <a:sym typeface="Nyutro Sans"/>
              </a:rPr>
              <a:t>Existing approaches generally do not provide a unified process for incomplete-team discovery, join requests, team merging, and hackathon registration.</a:t>
            </a:r>
          </a:p>
        </p:txBody>
      </p:sp>
      <p:sp>
        <p:nvSpPr>
          <p:cNvPr id="15" name="TextBox 15"/>
          <p:cNvSpPr txBox="1"/>
          <p:nvPr/>
        </p:nvSpPr>
        <p:spPr>
          <a:xfrm>
            <a:off x="4230601" y="3171201"/>
            <a:ext cx="11448763" cy="1211453"/>
          </a:xfrm>
          <a:prstGeom prst="rect">
            <a:avLst/>
          </a:prstGeom>
        </p:spPr>
        <p:txBody>
          <a:bodyPr lIns="0" tIns="0" rIns="0" bIns="0" rtlCol="0" anchor="t">
            <a:spAutoFit/>
          </a:bodyPr>
          <a:lstStyle/>
          <a:p>
            <a:pPr algn="just">
              <a:lnSpc>
                <a:spcPts val="4681"/>
              </a:lnSpc>
            </a:pPr>
            <a:r>
              <a:rPr lang="en-US" sz="3100">
                <a:solidFill>
                  <a:srgbClr val="161B1C"/>
                </a:solidFill>
                <a:latin typeface="Nyutro Sans"/>
                <a:ea typeface="Nyutro Sans"/>
                <a:cs typeface="Nyutro Sans"/>
                <a:sym typeface="Nyutro Sans"/>
              </a:rPr>
              <a:t>Existing hackathon platforms mainly focus on event creation, participant registration, and project submission.</a:t>
            </a:r>
          </a:p>
        </p:txBody>
      </p:sp>
      <p:grpSp>
        <p:nvGrpSpPr>
          <p:cNvPr id="16" name="Group 16"/>
          <p:cNvGrpSpPr/>
          <p:nvPr/>
        </p:nvGrpSpPr>
        <p:grpSpPr>
          <a:xfrm>
            <a:off x="3670959" y="3431192"/>
            <a:ext cx="283620" cy="283620"/>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D869A"/>
            </a:solidFill>
          </p:spPr>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4184565" y="4533994"/>
            <a:ext cx="11448763" cy="1802003"/>
          </a:xfrm>
          <a:prstGeom prst="rect">
            <a:avLst/>
          </a:prstGeom>
        </p:spPr>
        <p:txBody>
          <a:bodyPr lIns="0" tIns="0" rIns="0" bIns="0" rtlCol="0" anchor="t">
            <a:spAutoFit/>
          </a:bodyPr>
          <a:lstStyle/>
          <a:p>
            <a:pPr algn="just">
              <a:lnSpc>
                <a:spcPts val="4681"/>
              </a:lnSpc>
            </a:pPr>
            <a:r>
              <a:rPr lang="en-US" sz="3100">
                <a:solidFill>
                  <a:srgbClr val="161B1C"/>
                </a:solidFill>
                <a:latin typeface="Nyutro Sans"/>
                <a:ea typeface="Nyutro Sans"/>
                <a:cs typeface="Nyutro Sans"/>
                <a:sym typeface="Nyutro Sans"/>
              </a:rPr>
              <a:t>Collaboration platforms provide communication and group management but are not specifically designed for hackathon team formation.</a:t>
            </a:r>
          </a:p>
        </p:txBody>
      </p:sp>
      <p:grpSp>
        <p:nvGrpSpPr>
          <p:cNvPr id="20" name="Group 20"/>
          <p:cNvGrpSpPr/>
          <p:nvPr/>
        </p:nvGrpSpPr>
        <p:grpSpPr>
          <a:xfrm>
            <a:off x="3670959" y="4798994"/>
            <a:ext cx="283620" cy="283620"/>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D869A"/>
            </a:solidFill>
          </p:spPr>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rot="5400000" flipH="1">
            <a:off x="-3306107" y="5694113"/>
            <a:ext cx="7603204" cy="1891297"/>
          </a:xfrm>
          <a:custGeom>
            <a:avLst/>
            <a:gdLst/>
            <a:ahLst/>
            <a:cxnLst/>
            <a:rect l="l" t="t" r="r" b="b"/>
            <a:pathLst>
              <a:path w="7603204" h="1891297">
                <a:moveTo>
                  <a:pt x="7603204" y="0"/>
                </a:moveTo>
                <a:lnTo>
                  <a:pt x="0" y="0"/>
                </a:lnTo>
                <a:lnTo>
                  <a:pt x="0" y="1891297"/>
                </a:lnTo>
                <a:lnTo>
                  <a:pt x="7603204" y="1891297"/>
                </a:lnTo>
                <a:lnTo>
                  <a:pt x="7603204" y="0"/>
                </a:lnTo>
                <a:close/>
              </a:path>
            </a:pathLst>
          </a:custGeom>
          <a:blipFill>
            <a:blip r:embed="rId3"/>
            <a:stretch>
              <a:fillRect/>
            </a:stretch>
          </a:blipFill>
        </p:spPr>
      </p:sp>
      <p:sp>
        <p:nvSpPr>
          <p:cNvPr id="4" name="Freeform 4"/>
          <p:cNvSpPr/>
          <p:nvPr/>
        </p:nvSpPr>
        <p:spPr>
          <a:xfrm>
            <a:off x="-450153" y="-434233"/>
            <a:ext cx="4262923" cy="5120628"/>
          </a:xfrm>
          <a:custGeom>
            <a:avLst/>
            <a:gdLst/>
            <a:ahLst/>
            <a:cxnLst/>
            <a:rect l="l" t="t" r="r" b="b"/>
            <a:pathLst>
              <a:path w="4262923" h="5120628">
                <a:moveTo>
                  <a:pt x="0" y="0"/>
                </a:moveTo>
                <a:lnTo>
                  <a:pt x="4262923" y="0"/>
                </a:lnTo>
                <a:lnTo>
                  <a:pt x="4262923" y="5120627"/>
                </a:lnTo>
                <a:lnTo>
                  <a:pt x="0" y="5120627"/>
                </a:lnTo>
                <a:lnTo>
                  <a:pt x="0" y="0"/>
                </a:lnTo>
                <a:close/>
              </a:path>
            </a:pathLst>
          </a:custGeom>
          <a:blipFill>
            <a:blip r:embed="rId4"/>
            <a:stretch>
              <a:fillRect/>
            </a:stretch>
          </a:blipFill>
        </p:spPr>
      </p:sp>
      <p:sp>
        <p:nvSpPr>
          <p:cNvPr id="5" name="Freeform 5"/>
          <p:cNvSpPr/>
          <p:nvPr/>
        </p:nvSpPr>
        <p:spPr>
          <a:xfrm rot="5400000" flipV="1">
            <a:off x="13994907" y="2627353"/>
            <a:ext cx="7603204" cy="1891297"/>
          </a:xfrm>
          <a:custGeom>
            <a:avLst/>
            <a:gdLst/>
            <a:ahLst/>
            <a:cxnLst/>
            <a:rect l="l" t="t" r="r" b="b"/>
            <a:pathLst>
              <a:path w="7603204" h="1891297">
                <a:moveTo>
                  <a:pt x="0" y="1891297"/>
                </a:moveTo>
                <a:lnTo>
                  <a:pt x="7603203" y="1891297"/>
                </a:lnTo>
                <a:lnTo>
                  <a:pt x="7603203" y="0"/>
                </a:lnTo>
                <a:lnTo>
                  <a:pt x="0" y="0"/>
                </a:lnTo>
                <a:lnTo>
                  <a:pt x="0" y="1891297"/>
                </a:lnTo>
                <a:close/>
              </a:path>
            </a:pathLst>
          </a:custGeom>
          <a:blipFill>
            <a:blip r:embed="rId3"/>
            <a:stretch>
              <a:fillRect/>
            </a:stretch>
          </a:blipFill>
        </p:spPr>
      </p:sp>
      <p:sp>
        <p:nvSpPr>
          <p:cNvPr id="6" name="Freeform 6"/>
          <p:cNvSpPr/>
          <p:nvPr/>
        </p:nvSpPr>
        <p:spPr>
          <a:xfrm flipH="1" flipV="1">
            <a:off x="14324509" y="5585433"/>
            <a:ext cx="4262923" cy="5120628"/>
          </a:xfrm>
          <a:custGeom>
            <a:avLst/>
            <a:gdLst/>
            <a:ahLst/>
            <a:cxnLst/>
            <a:rect l="l" t="t" r="r" b="b"/>
            <a:pathLst>
              <a:path w="4262923" h="5120628">
                <a:moveTo>
                  <a:pt x="4262923" y="5120628"/>
                </a:moveTo>
                <a:lnTo>
                  <a:pt x="0" y="5120628"/>
                </a:lnTo>
                <a:lnTo>
                  <a:pt x="0" y="0"/>
                </a:lnTo>
                <a:lnTo>
                  <a:pt x="4262923" y="0"/>
                </a:lnTo>
                <a:lnTo>
                  <a:pt x="4262923" y="5120628"/>
                </a:lnTo>
                <a:close/>
              </a:path>
            </a:pathLst>
          </a:custGeom>
          <a:blipFill>
            <a:blip r:embed="rId4"/>
            <a:stretch>
              <a:fillRect/>
            </a:stretch>
          </a:blipFill>
        </p:spPr>
      </p:sp>
      <p:sp>
        <p:nvSpPr>
          <p:cNvPr id="10" name="TextBox 10"/>
          <p:cNvSpPr txBox="1"/>
          <p:nvPr/>
        </p:nvSpPr>
        <p:spPr>
          <a:xfrm>
            <a:off x="2066437" y="2828474"/>
            <a:ext cx="14202870" cy="6033533"/>
          </a:xfrm>
          <a:prstGeom prst="rect">
            <a:avLst/>
          </a:prstGeom>
        </p:spPr>
        <p:txBody>
          <a:bodyPr lIns="0" tIns="0" rIns="0" bIns="0" rtlCol="0" anchor="t">
            <a:spAutoFit/>
          </a:bodyPr>
          <a:lstStyle/>
          <a:p>
            <a:pPr marL="679491" lvl="1" indent="-339746" algn="just">
              <a:lnSpc>
                <a:spcPts val="4752"/>
              </a:lnSpc>
              <a:buFont typeface="Arial"/>
              <a:buChar char="•"/>
            </a:pPr>
            <a:r>
              <a:rPr lang="en-US" sz="3147">
                <a:solidFill>
                  <a:srgbClr val="161B1C"/>
                </a:solidFill>
                <a:latin typeface="Nyutro Sans"/>
                <a:ea typeface="Nyutro Sans"/>
                <a:cs typeface="Nyutro Sans"/>
                <a:sym typeface="Nyutro Sans"/>
              </a:rPr>
              <a:t>Existing systems mainly focus on hackathon management or skill-based team matching.</a:t>
            </a:r>
          </a:p>
          <a:p>
            <a:pPr marL="679491" lvl="1" indent="-339746" algn="just">
              <a:lnSpc>
                <a:spcPts val="4752"/>
              </a:lnSpc>
              <a:buFont typeface="Arial"/>
              <a:buChar char="•"/>
            </a:pPr>
            <a:r>
              <a:rPr lang="en-US" sz="3147">
                <a:solidFill>
                  <a:srgbClr val="161B1C"/>
                </a:solidFill>
                <a:latin typeface="Nyutro Sans"/>
                <a:ea typeface="Nyutro Sans"/>
                <a:cs typeface="Nyutro Sans"/>
                <a:sym typeface="Nyutro Sans"/>
              </a:rPr>
              <a:t>Limited support is available for finding incomplete teams without restrictive filters.</a:t>
            </a:r>
          </a:p>
          <a:p>
            <a:pPr marL="679491" lvl="1" indent="-339746" algn="just">
              <a:lnSpc>
                <a:spcPts val="4752"/>
              </a:lnSpc>
              <a:buFont typeface="Arial"/>
              <a:buChar char="•"/>
            </a:pPr>
            <a:r>
              <a:rPr lang="en-US" sz="3147">
                <a:solidFill>
                  <a:srgbClr val="161B1C"/>
                </a:solidFill>
                <a:latin typeface="Nyutro Sans"/>
                <a:ea typeface="Nyutro Sans"/>
                <a:cs typeface="Nyutro Sans"/>
                <a:sym typeface="Nyutro Sans"/>
              </a:rPr>
              <a:t>Existing platforms often lack join and merge mechanisms for partial teams.</a:t>
            </a:r>
          </a:p>
          <a:p>
            <a:pPr marL="679491" lvl="1" indent="-339746" algn="just">
              <a:lnSpc>
                <a:spcPts val="4752"/>
              </a:lnSpc>
              <a:buFont typeface="Arial"/>
              <a:buChar char="•"/>
            </a:pPr>
            <a:r>
              <a:rPr lang="en-US" sz="3147">
                <a:solidFill>
                  <a:srgbClr val="161B1C"/>
                </a:solidFill>
                <a:latin typeface="Nyutro Sans"/>
                <a:ea typeface="Nyutro Sans"/>
                <a:cs typeface="Nyutro Sans"/>
                <a:sym typeface="Nyutro Sans"/>
              </a:rPr>
              <a:t>There is no unified workflow combining hackathon creation, flexible team formation, team joining/merging, and registration.</a:t>
            </a:r>
          </a:p>
          <a:p>
            <a:pPr marL="679491" lvl="1" indent="-339746" algn="just">
              <a:lnSpc>
                <a:spcPts val="4752"/>
              </a:lnSpc>
              <a:buFont typeface="Arial"/>
              <a:buChar char="•"/>
            </a:pPr>
            <a:r>
              <a:rPr lang="en-US" sz="3147">
                <a:solidFill>
                  <a:srgbClr val="161B1C"/>
                </a:solidFill>
                <a:latin typeface="Nyutro Sans"/>
                <a:ea typeface="Nyutro Sans"/>
                <a:cs typeface="Nyutro Sans"/>
                <a:sym typeface="Nyutro Sans"/>
              </a:rPr>
              <a:t>Therefore, a centralized platform is needed to provide a simple and flexible team formation process for hackathon participants.</a:t>
            </a:r>
          </a:p>
          <a:p>
            <a:pPr algn="just">
              <a:lnSpc>
                <a:spcPts val="4752"/>
              </a:lnSpc>
            </a:pPr>
            <a:endParaRPr lang="en-US" sz="3147">
              <a:solidFill>
                <a:srgbClr val="161B1C"/>
              </a:solidFill>
              <a:latin typeface="Nyutro Sans"/>
              <a:ea typeface="Nyutro Sans"/>
              <a:cs typeface="Nyutro Sans"/>
              <a:sym typeface="Nyutro Sans"/>
            </a:endParaRPr>
          </a:p>
        </p:txBody>
      </p:sp>
      <p:sp>
        <p:nvSpPr>
          <p:cNvPr id="11" name="TextBox 11"/>
          <p:cNvSpPr txBox="1"/>
          <p:nvPr/>
        </p:nvSpPr>
        <p:spPr>
          <a:xfrm>
            <a:off x="4669687" y="817005"/>
            <a:ext cx="9209608" cy="1543050"/>
          </a:xfrm>
          <a:prstGeom prst="rect">
            <a:avLst/>
          </a:prstGeom>
        </p:spPr>
        <p:txBody>
          <a:bodyPr lIns="0" tIns="0" rIns="0" bIns="0" rtlCol="0" anchor="t">
            <a:spAutoFit/>
          </a:bodyPr>
          <a:lstStyle/>
          <a:p>
            <a:pPr algn="ctr">
              <a:lnSpc>
                <a:spcPts val="12599"/>
              </a:lnSpc>
            </a:pPr>
            <a:r>
              <a:rPr lang="en-US" sz="9000">
                <a:solidFill>
                  <a:srgbClr val="161B1C"/>
                </a:solidFill>
                <a:latin typeface="Sego"/>
                <a:ea typeface="Sego"/>
                <a:cs typeface="Sego"/>
                <a:sym typeface="Sego"/>
              </a:rPr>
              <a:t>Research Gap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rot="5400000" flipH="1">
            <a:off x="-3306107" y="5694113"/>
            <a:ext cx="7603204" cy="1891297"/>
          </a:xfrm>
          <a:custGeom>
            <a:avLst/>
            <a:gdLst/>
            <a:ahLst/>
            <a:cxnLst/>
            <a:rect l="l" t="t" r="r" b="b"/>
            <a:pathLst>
              <a:path w="7603204" h="1891297">
                <a:moveTo>
                  <a:pt x="7603204" y="0"/>
                </a:moveTo>
                <a:lnTo>
                  <a:pt x="0" y="0"/>
                </a:lnTo>
                <a:lnTo>
                  <a:pt x="0" y="1891297"/>
                </a:lnTo>
                <a:lnTo>
                  <a:pt x="7603204" y="1891297"/>
                </a:lnTo>
                <a:lnTo>
                  <a:pt x="7603204" y="0"/>
                </a:lnTo>
                <a:close/>
              </a:path>
            </a:pathLst>
          </a:custGeom>
          <a:blipFill>
            <a:blip r:embed="rId3"/>
            <a:stretch>
              <a:fillRect/>
            </a:stretch>
          </a:blipFill>
        </p:spPr>
      </p:sp>
      <p:sp>
        <p:nvSpPr>
          <p:cNvPr id="4" name="Freeform 4"/>
          <p:cNvSpPr/>
          <p:nvPr/>
        </p:nvSpPr>
        <p:spPr>
          <a:xfrm>
            <a:off x="-450153" y="-434233"/>
            <a:ext cx="4262923" cy="5120628"/>
          </a:xfrm>
          <a:custGeom>
            <a:avLst/>
            <a:gdLst/>
            <a:ahLst/>
            <a:cxnLst/>
            <a:rect l="l" t="t" r="r" b="b"/>
            <a:pathLst>
              <a:path w="4262923" h="5120628">
                <a:moveTo>
                  <a:pt x="0" y="0"/>
                </a:moveTo>
                <a:lnTo>
                  <a:pt x="4262923" y="0"/>
                </a:lnTo>
                <a:lnTo>
                  <a:pt x="4262923" y="5120627"/>
                </a:lnTo>
                <a:lnTo>
                  <a:pt x="0" y="5120627"/>
                </a:lnTo>
                <a:lnTo>
                  <a:pt x="0" y="0"/>
                </a:lnTo>
                <a:close/>
              </a:path>
            </a:pathLst>
          </a:custGeom>
          <a:blipFill>
            <a:blip r:embed="rId4"/>
            <a:stretch>
              <a:fillRect/>
            </a:stretch>
          </a:blipFill>
        </p:spPr>
      </p:sp>
      <p:sp>
        <p:nvSpPr>
          <p:cNvPr id="5" name="Freeform 5"/>
          <p:cNvSpPr/>
          <p:nvPr/>
        </p:nvSpPr>
        <p:spPr>
          <a:xfrm rot="5400000" flipV="1">
            <a:off x="13994907" y="2627353"/>
            <a:ext cx="7603204" cy="1891297"/>
          </a:xfrm>
          <a:custGeom>
            <a:avLst/>
            <a:gdLst/>
            <a:ahLst/>
            <a:cxnLst/>
            <a:rect l="l" t="t" r="r" b="b"/>
            <a:pathLst>
              <a:path w="7603204" h="1891297">
                <a:moveTo>
                  <a:pt x="0" y="1891297"/>
                </a:moveTo>
                <a:lnTo>
                  <a:pt x="7603203" y="1891297"/>
                </a:lnTo>
                <a:lnTo>
                  <a:pt x="7603203" y="0"/>
                </a:lnTo>
                <a:lnTo>
                  <a:pt x="0" y="0"/>
                </a:lnTo>
                <a:lnTo>
                  <a:pt x="0" y="1891297"/>
                </a:lnTo>
                <a:close/>
              </a:path>
            </a:pathLst>
          </a:custGeom>
          <a:blipFill>
            <a:blip r:embed="rId3"/>
            <a:stretch>
              <a:fillRect/>
            </a:stretch>
          </a:blipFill>
        </p:spPr>
      </p:sp>
      <p:sp>
        <p:nvSpPr>
          <p:cNvPr id="6" name="Freeform 6"/>
          <p:cNvSpPr/>
          <p:nvPr/>
        </p:nvSpPr>
        <p:spPr>
          <a:xfrm flipH="1" flipV="1">
            <a:off x="14324509" y="5585433"/>
            <a:ext cx="4262923" cy="5120628"/>
          </a:xfrm>
          <a:custGeom>
            <a:avLst/>
            <a:gdLst/>
            <a:ahLst/>
            <a:cxnLst/>
            <a:rect l="l" t="t" r="r" b="b"/>
            <a:pathLst>
              <a:path w="4262923" h="5120628">
                <a:moveTo>
                  <a:pt x="4262923" y="5120628"/>
                </a:moveTo>
                <a:lnTo>
                  <a:pt x="0" y="5120628"/>
                </a:lnTo>
                <a:lnTo>
                  <a:pt x="0" y="0"/>
                </a:lnTo>
                <a:lnTo>
                  <a:pt x="4262923" y="0"/>
                </a:lnTo>
                <a:lnTo>
                  <a:pt x="4262923" y="5120628"/>
                </a:lnTo>
                <a:close/>
              </a:path>
            </a:pathLst>
          </a:custGeom>
          <a:blipFill>
            <a:blip r:embed="rId4"/>
            <a:stretch>
              <a:fillRect/>
            </a:stretch>
          </a:blipFill>
        </p:spPr>
      </p:sp>
      <p:sp>
        <p:nvSpPr>
          <p:cNvPr id="7" name="TextBox 7"/>
          <p:cNvSpPr txBox="1"/>
          <p:nvPr/>
        </p:nvSpPr>
        <p:spPr>
          <a:xfrm>
            <a:off x="2700315" y="2424778"/>
            <a:ext cx="12887369" cy="7707503"/>
          </a:xfrm>
          <a:prstGeom prst="rect">
            <a:avLst/>
          </a:prstGeom>
        </p:spPr>
        <p:txBody>
          <a:bodyPr lIns="0" tIns="0" rIns="0" bIns="0" rtlCol="0" anchor="t">
            <a:spAutoFit/>
          </a:bodyPr>
          <a:lstStyle/>
          <a:p>
            <a:pPr algn="ctr">
              <a:lnSpc>
                <a:spcPts val="4681"/>
              </a:lnSpc>
            </a:pPr>
            <a:endParaRPr/>
          </a:p>
          <a:p>
            <a:pPr marL="669291" lvl="1" indent="-334646" algn="just">
              <a:lnSpc>
                <a:spcPts val="4681"/>
              </a:lnSpc>
              <a:buFont typeface="Arial"/>
              <a:buChar char="•"/>
            </a:pPr>
            <a:r>
              <a:rPr lang="en-US" sz="3100">
                <a:solidFill>
                  <a:srgbClr val="161B1C"/>
                </a:solidFill>
                <a:latin typeface="Nyutro Sans"/>
                <a:ea typeface="Nyutro Sans"/>
                <a:cs typeface="Nyutro Sans"/>
                <a:sym typeface="Nyutro Sans"/>
              </a:rPr>
              <a:t>To develop a centralized platform for managing hackathons and participants.</a:t>
            </a:r>
          </a:p>
          <a:p>
            <a:pPr marL="669291" lvl="1" indent="-334646" algn="just">
              <a:lnSpc>
                <a:spcPts val="4681"/>
              </a:lnSpc>
              <a:buFont typeface="Arial"/>
              <a:buChar char="•"/>
            </a:pPr>
            <a:r>
              <a:rPr lang="en-US" sz="3100">
                <a:solidFill>
                  <a:srgbClr val="161B1C"/>
                </a:solidFill>
                <a:latin typeface="Nyutro Sans"/>
                <a:ea typeface="Nyutro Sans"/>
                <a:cs typeface="Nyutro Sans"/>
                <a:sym typeface="Nyutro Sans"/>
              </a:rPr>
              <a:t>To provide students with flexible options for individual, partial-team, and full-team registration.</a:t>
            </a:r>
          </a:p>
          <a:p>
            <a:pPr marL="669291" lvl="1" indent="-334646" algn="just">
              <a:lnSpc>
                <a:spcPts val="4681"/>
              </a:lnSpc>
              <a:buFont typeface="Arial"/>
              <a:buChar char="•"/>
            </a:pPr>
            <a:r>
              <a:rPr lang="en-US" sz="3100">
                <a:solidFill>
                  <a:srgbClr val="161B1C"/>
                </a:solidFill>
                <a:latin typeface="Nyutro Sans"/>
                <a:ea typeface="Nyutro Sans"/>
                <a:cs typeface="Nyutro Sans"/>
                <a:sym typeface="Nyutro Sans"/>
              </a:rPr>
              <a:t>To enable students to discover incomplete teams and connect with other participants.</a:t>
            </a:r>
          </a:p>
          <a:p>
            <a:pPr marL="669291" lvl="1" indent="-334646" algn="just">
              <a:lnSpc>
                <a:spcPts val="4681"/>
              </a:lnSpc>
              <a:buFont typeface="Arial"/>
              <a:buChar char="•"/>
            </a:pPr>
            <a:r>
              <a:rPr lang="en-US" sz="3100">
                <a:solidFill>
                  <a:srgbClr val="161B1C"/>
                </a:solidFill>
                <a:latin typeface="Nyutro Sans"/>
                <a:ea typeface="Nyutro Sans"/>
                <a:cs typeface="Nyutro Sans"/>
                <a:sym typeface="Nyutro Sans"/>
              </a:rPr>
              <a:t>To support join and merge requests for completing partial teams.</a:t>
            </a:r>
          </a:p>
          <a:p>
            <a:pPr marL="669291" lvl="1" indent="-334646" algn="just">
              <a:lnSpc>
                <a:spcPts val="4681"/>
              </a:lnSpc>
              <a:buFont typeface="Arial"/>
              <a:buChar char="•"/>
            </a:pPr>
            <a:r>
              <a:rPr lang="en-US" sz="3100">
                <a:solidFill>
                  <a:srgbClr val="161B1C"/>
                </a:solidFill>
                <a:latin typeface="Nyutro Sans"/>
                <a:ea typeface="Nyutro Sans"/>
                <a:cs typeface="Nyutro Sans"/>
                <a:sym typeface="Nyutro Sans"/>
              </a:rPr>
              <a:t>To help organizers create hackathons, define rules, and manage participation efficiently.</a:t>
            </a:r>
          </a:p>
          <a:p>
            <a:pPr marL="669291" lvl="1" indent="-334646" algn="just">
              <a:lnSpc>
                <a:spcPts val="4681"/>
              </a:lnSpc>
              <a:buFont typeface="Arial"/>
              <a:buChar char="•"/>
            </a:pPr>
            <a:r>
              <a:rPr lang="en-US" sz="3100">
                <a:solidFill>
                  <a:srgbClr val="161B1C"/>
                </a:solidFill>
                <a:latin typeface="Nyutro Sans"/>
                <a:ea typeface="Nyutro Sans"/>
                <a:cs typeface="Nyutro Sans"/>
                <a:sym typeface="Nyutro Sans"/>
              </a:rPr>
              <a:t>To provide a reliable system for managing team formation and hackathon registration.</a:t>
            </a:r>
          </a:p>
          <a:p>
            <a:pPr algn="ctr">
              <a:lnSpc>
                <a:spcPts val="4681"/>
              </a:lnSpc>
            </a:pPr>
            <a:endParaRPr lang="en-US" sz="3100">
              <a:solidFill>
                <a:srgbClr val="161B1C"/>
              </a:solidFill>
              <a:latin typeface="Nyutro Sans"/>
              <a:ea typeface="Nyutro Sans"/>
              <a:cs typeface="Nyutro Sans"/>
              <a:sym typeface="Nyutro Sans"/>
            </a:endParaRPr>
          </a:p>
        </p:txBody>
      </p:sp>
      <p:sp>
        <p:nvSpPr>
          <p:cNvPr id="8" name="TextBox 8"/>
          <p:cNvSpPr txBox="1"/>
          <p:nvPr/>
        </p:nvSpPr>
        <p:spPr>
          <a:xfrm>
            <a:off x="3625761" y="857250"/>
            <a:ext cx="11427950" cy="1543050"/>
          </a:xfrm>
          <a:prstGeom prst="rect">
            <a:avLst/>
          </a:prstGeom>
        </p:spPr>
        <p:txBody>
          <a:bodyPr lIns="0" tIns="0" rIns="0" bIns="0" rtlCol="0" anchor="t">
            <a:spAutoFit/>
          </a:bodyPr>
          <a:lstStyle/>
          <a:p>
            <a:pPr algn="ctr">
              <a:lnSpc>
                <a:spcPts val="12599"/>
              </a:lnSpc>
            </a:pPr>
            <a:r>
              <a:rPr lang="en-US" sz="9000">
                <a:solidFill>
                  <a:srgbClr val="161B1C"/>
                </a:solidFill>
                <a:latin typeface="Sego"/>
                <a:ea typeface="Sego"/>
                <a:cs typeface="Sego"/>
                <a:sym typeface="Sego"/>
              </a:rPr>
              <a:t>Reasearch objective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rot="5400000" flipH="1">
            <a:off x="-3306107" y="5694113"/>
            <a:ext cx="7603204" cy="1891297"/>
          </a:xfrm>
          <a:custGeom>
            <a:avLst/>
            <a:gdLst/>
            <a:ahLst/>
            <a:cxnLst/>
            <a:rect l="l" t="t" r="r" b="b"/>
            <a:pathLst>
              <a:path w="7603204" h="1891297">
                <a:moveTo>
                  <a:pt x="7603204" y="0"/>
                </a:moveTo>
                <a:lnTo>
                  <a:pt x="0" y="0"/>
                </a:lnTo>
                <a:lnTo>
                  <a:pt x="0" y="1891297"/>
                </a:lnTo>
                <a:lnTo>
                  <a:pt x="7603204" y="1891297"/>
                </a:lnTo>
                <a:lnTo>
                  <a:pt x="7603204" y="0"/>
                </a:lnTo>
                <a:close/>
              </a:path>
            </a:pathLst>
          </a:custGeom>
          <a:blipFill>
            <a:blip r:embed="rId3"/>
            <a:stretch>
              <a:fillRect/>
            </a:stretch>
          </a:blipFill>
        </p:spPr>
      </p:sp>
      <p:sp>
        <p:nvSpPr>
          <p:cNvPr id="4" name="Freeform 4"/>
          <p:cNvSpPr/>
          <p:nvPr/>
        </p:nvSpPr>
        <p:spPr>
          <a:xfrm>
            <a:off x="-450153" y="-434233"/>
            <a:ext cx="4262923" cy="5120628"/>
          </a:xfrm>
          <a:custGeom>
            <a:avLst/>
            <a:gdLst/>
            <a:ahLst/>
            <a:cxnLst/>
            <a:rect l="l" t="t" r="r" b="b"/>
            <a:pathLst>
              <a:path w="4262923" h="5120628">
                <a:moveTo>
                  <a:pt x="0" y="0"/>
                </a:moveTo>
                <a:lnTo>
                  <a:pt x="4262923" y="0"/>
                </a:lnTo>
                <a:lnTo>
                  <a:pt x="4262923" y="5120627"/>
                </a:lnTo>
                <a:lnTo>
                  <a:pt x="0" y="5120627"/>
                </a:lnTo>
                <a:lnTo>
                  <a:pt x="0" y="0"/>
                </a:lnTo>
                <a:close/>
              </a:path>
            </a:pathLst>
          </a:custGeom>
          <a:blipFill>
            <a:blip r:embed="rId4"/>
            <a:stretch>
              <a:fillRect/>
            </a:stretch>
          </a:blipFill>
        </p:spPr>
      </p:sp>
      <p:sp>
        <p:nvSpPr>
          <p:cNvPr id="5" name="Freeform 5"/>
          <p:cNvSpPr/>
          <p:nvPr/>
        </p:nvSpPr>
        <p:spPr>
          <a:xfrm rot="5400000" flipV="1">
            <a:off x="13994907" y="2627353"/>
            <a:ext cx="7603204" cy="1891297"/>
          </a:xfrm>
          <a:custGeom>
            <a:avLst/>
            <a:gdLst/>
            <a:ahLst/>
            <a:cxnLst/>
            <a:rect l="l" t="t" r="r" b="b"/>
            <a:pathLst>
              <a:path w="7603204" h="1891297">
                <a:moveTo>
                  <a:pt x="0" y="1891297"/>
                </a:moveTo>
                <a:lnTo>
                  <a:pt x="7603203" y="1891297"/>
                </a:lnTo>
                <a:lnTo>
                  <a:pt x="7603203" y="0"/>
                </a:lnTo>
                <a:lnTo>
                  <a:pt x="0" y="0"/>
                </a:lnTo>
                <a:lnTo>
                  <a:pt x="0" y="1891297"/>
                </a:lnTo>
                <a:close/>
              </a:path>
            </a:pathLst>
          </a:custGeom>
          <a:blipFill>
            <a:blip r:embed="rId3"/>
            <a:stretch>
              <a:fillRect/>
            </a:stretch>
          </a:blipFill>
        </p:spPr>
      </p:sp>
      <p:sp>
        <p:nvSpPr>
          <p:cNvPr id="6" name="Freeform 6"/>
          <p:cNvSpPr/>
          <p:nvPr/>
        </p:nvSpPr>
        <p:spPr>
          <a:xfrm flipH="1" flipV="1">
            <a:off x="14324509" y="5585433"/>
            <a:ext cx="4262923" cy="5120628"/>
          </a:xfrm>
          <a:custGeom>
            <a:avLst/>
            <a:gdLst/>
            <a:ahLst/>
            <a:cxnLst/>
            <a:rect l="l" t="t" r="r" b="b"/>
            <a:pathLst>
              <a:path w="4262923" h="5120628">
                <a:moveTo>
                  <a:pt x="4262923" y="5120628"/>
                </a:moveTo>
                <a:lnTo>
                  <a:pt x="0" y="5120628"/>
                </a:lnTo>
                <a:lnTo>
                  <a:pt x="0" y="0"/>
                </a:lnTo>
                <a:lnTo>
                  <a:pt x="4262923" y="0"/>
                </a:lnTo>
                <a:lnTo>
                  <a:pt x="4262923" y="5120628"/>
                </a:lnTo>
                <a:close/>
              </a:path>
            </a:pathLst>
          </a:custGeom>
          <a:blipFill>
            <a:blip r:embed="rId4"/>
            <a:stretch>
              <a:fillRect/>
            </a:stretch>
          </a:blipFill>
        </p:spPr>
      </p:sp>
      <p:sp>
        <p:nvSpPr>
          <p:cNvPr id="7" name="Freeform 7"/>
          <p:cNvSpPr/>
          <p:nvPr/>
        </p:nvSpPr>
        <p:spPr>
          <a:xfrm>
            <a:off x="3005026" y="2160484"/>
            <a:ext cx="12869160" cy="7097816"/>
          </a:xfrm>
          <a:custGeom>
            <a:avLst/>
            <a:gdLst/>
            <a:ahLst/>
            <a:cxnLst/>
            <a:rect l="l" t="t" r="r" b="b"/>
            <a:pathLst>
              <a:path w="12869160" h="7097816">
                <a:moveTo>
                  <a:pt x="0" y="0"/>
                </a:moveTo>
                <a:lnTo>
                  <a:pt x="12869160" y="0"/>
                </a:lnTo>
                <a:lnTo>
                  <a:pt x="12869160" y="7097816"/>
                </a:lnTo>
                <a:lnTo>
                  <a:pt x="0" y="7097816"/>
                </a:lnTo>
                <a:lnTo>
                  <a:pt x="0" y="0"/>
                </a:lnTo>
                <a:close/>
              </a:path>
            </a:pathLst>
          </a:custGeom>
          <a:blipFill>
            <a:blip r:embed="rId5"/>
            <a:stretch>
              <a:fillRect t="-598" b="-598"/>
            </a:stretch>
          </a:blipFill>
        </p:spPr>
      </p:sp>
      <p:sp>
        <p:nvSpPr>
          <p:cNvPr id="8" name="TextBox 8"/>
          <p:cNvSpPr txBox="1"/>
          <p:nvPr/>
        </p:nvSpPr>
        <p:spPr>
          <a:xfrm>
            <a:off x="3399404" y="171450"/>
            <a:ext cx="12080403" cy="1543050"/>
          </a:xfrm>
          <a:prstGeom prst="rect">
            <a:avLst/>
          </a:prstGeom>
        </p:spPr>
        <p:txBody>
          <a:bodyPr lIns="0" tIns="0" rIns="0" bIns="0" rtlCol="0" anchor="t">
            <a:spAutoFit/>
          </a:bodyPr>
          <a:lstStyle/>
          <a:p>
            <a:pPr algn="ctr">
              <a:lnSpc>
                <a:spcPts val="12599"/>
              </a:lnSpc>
            </a:pPr>
            <a:r>
              <a:rPr lang="en-US" sz="9000">
                <a:solidFill>
                  <a:srgbClr val="161B1C"/>
                </a:solidFill>
                <a:latin typeface="Sego"/>
                <a:ea typeface="Sego"/>
                <a:cs typeface="Sego"/>
                <a:sym typeface="Sego"/>
              </a:rPr>
              <a:t>Architecture Diagram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rot="5400000" flipH="1">
            <a:off x="-3306107" y="5694113"/>
            <a:ext cx="7603204" cy="1891297"/>
          </a:xfrm>
          <a:custGeom>
            <a:avLst/>
            <a:gdLst/>
            <a:ahLst/>
            <a:cxnLst/>
            <a:rect l="l" t="t" r="r" b="b"/>
            <a:pathLst>
              <a:path w="7603204" h="1891297">
                <a:moveTo>
                  <a:pt x="7603204" y="0"/>
                </a:moveTo>
                <a:lnTo>
                  <a:pt x="0" y="0"/>
                </a:lnTo>
                <a:lnTo>
                  <a:pt x="0" y="1891297"/>
                </a:lnTo>
                <a:lnTo>
                  <a:pt x="7603204" y="1891297"/>
                </a:lnTo>
                <a:lnTo>
                  <a:pt x="7603204" y="0"/>
                </a:lnTo>
                <a:close/>
              </a:path>
            </a:pathLst>
          </a:custGeom>
          <a:blipFill>
            <a:blip r:embed="rId3"/>
            <a:stretch>
              <a:fillRect/>
            </a:stretch>
          </a:blipFill>
        </p:spPr>
      </p:sp>
      <p:sp>
        <p:nvSpPr>
          <p:cNvPr id="4" name="Freeform 4"/>
          <p:cNvSpPr/>
          <p:nvPr/>
        </p:nvSpPr>
        <p:spPr>
          <a:xfrm>
            <a:off x="-450153" y="-434233"/>
            <a:ext cx="4262923" cy="5120628"/>
          </a:xfrm>
          <a:custGeom>
            <a:avLst/>
            <a:gdLst/>
            <a:ahLst/>
            <a:cxnLst/>
            <a:rect l="l" t="t" r="r" b="b"/>
            <a:pathLst>
              <a:path w="4262923" h="5120628">
                <a:moveTo>
                  <a:pt x="0" y="0"/>
                </a:moveTo>
                <a:lnTo>
                  <a:pt x="4262923" y="0"/>
                </a:lnTo>
                <a:lnTo>
                  <a:pt x="4262923" y="5120627"/>
                </a:lnTo>
                <a:lnTo>
                  <a:pt x="0" y="5120627"/>
                </a:lnTo>
                <a:lnTo>
                  <a:pt x="0" y="0"/>
                </a:lnTo>
                <a:close/>
              </a:path>
            </a:pathLst>
          </a:custGeom>
          <a:blipFill>
            <a:blip r:embed="rId4"/>
            <a:stretch>
              <a:fillRect/>
            </a:stretch>
          </a:blipFill>
        </p:spPr>
      </p:sp>
      <p:sp>
        <p:nvSpPr>
          <p:cNvPr id="5" name="Freeform 5"/>
          <p:cNvSpPr/>
          <p:nvPr/>
        </p:nvSpPr>
        <p:spPr>
          <a:xfrm rot="5400000" flipV="1">
            <a:off x="13994907" y="2627353"/>
            <a:ext cx="7603204" cy="1891297"/>
          </a:xfrm>
          <a:custGeom>
            <a:avLst/>
            <a:gdLst/>
            <a:ahLst/>
            <a:cxnLst/>
            <a:rect l="l" t="t" r="r" b="b"/>
            <a:pathLst>
              <a:path w="7603204" h="1891297">
                <a:moveTo>
                  <a:pt x="0" y="1891297"/>
                </a:moveTo>
                <a:lnTo>
                  <a:pt x="7603203" y="1891297"/>
                </a:lnTo>
                <a:lnTo>
                  <a:pt x="7603203" y="0"/>
                </a:lnTo>
                <a:lnTo>
                  <a:pt x="0" y="0"/>
                </a:lnTo>
                <a:lnTo>
                  <a:pt x="0" y="1891297"/>
                </a:lnTo>
                <a:close/>
              </a:path>
            </a:pathLst>
          </a:custGeom>
          <a:blipFill>
            <a:blip r:embed="rId3"/>
            <a:stretch>
              <a:fillRect/>
            </a:stretch>
          </a:blipFill>
        </p:spPr>
      </p:sp>
      <p:sp>
        <p:nvSpPr>
          <p:cNvPr id="6" name="Freeform 6"/>
          <p:cNvSpPr/>
          <p:nvPr/>
        </p:nvSpPr>
        <p:spPr>
          <a:xfrm flipH="1" flipV="1">
            <a:off x="14324509" y="5585433"/>
            <a:ext cx="4262923" cy="5120628"/>
          </a:xfrm>
          <a:custGeom>
            <a:avLst/>
            <a:gdLst/>
            <a:ahLst/>
            <a:cxnLst/>
            <a:rect l="l" t="t" r="r" b="b"/>
            <a:pathLst>
              <a:path w="4262923" h="5120628">
                <a:moveTo>
                  <a:pt x="4262923" y="5120628"/>
                </a:moveTo>
                <a:lnTo>
                  <a:pt x="0" y="5120628"/>
                </a:lnTo>
                <a:lnTo>
                  <a:pt x="0" y="0"/>
                </a:lnTo>
                <a:lnTo>
                  <a:pt x="4262923" y="0"/>
                </a:lnTo>
                <a:lnTo>
                  <a:pt x="4262923" y="5120628"/>
                </a:lnTo>
                <a:close/>
              </a:path>
            </a:pathLst>
          </a:custGeom>
          <a:blipFill>
            <a:blip r:embed="rId4"/>
            <a:stretch>
              <a:fillRect/>
            </a:stretch>
          </a:blipFill>
        </p:spPr>
      </p:sp>
      <p:sp>
        <p:nvSpPr>
          <p:cNvPr id="7" name="TextBox 7"/>
          <p:cNvSpPr txBox="1"/>
          <p:nvPr/>
        </p:nvSpPr>
        <p:spPr>
          <a:xfrm>
            <a:off x="4669687" y="583031"/>
            <a:ext cx="9209608" cy="1543050"/>
          </a:xfrm>
          <a:prstGeom prst="rect">
            <a:avLst/>
          </a:prstGeom>
        </p:spPr>
        <p:txBody>
          <a:bodyPr lIns="0" tIns="0" rIns="0" bIns="0" rtlCol="0" anchor="t">
            <a:spAutoFit/>
          </a:bodyPr>
          <a:lstStyle/>
          <a:p>
            <a:pPr algn="ctr">
              <a:lnSpc>
                <a:spcPts val="12599"/>
              </a:lnSpc>
            </a:pPr>
            <a:r>
              <a:rPr lang="en-US" sz="9000">
                <a:solidFill>
                  <a:srgbClr val="161B1C"/>
                </a:solidFill>
                <a:latin typeface="Sego"/>
                <a:ea typeface="Sego"/>
                <a:cs typeface="Sego"/>
                <a:sym typeface="Sego"/>
              </a:rPr>
              <a:t>Tech Stack</a:t>
            </a:r>
          </a:p>
        </p:txBody>
      </p:sp>
      <p:sp>
        <p:nvSpPr>
          <p:cNvPr id="8" name="TextBox 8"/>
          <p:cNvSpPr txBox="1"/>
          <p:nvPr/>
        </p:nvSpPr>
        <p:spPr>
          <a:xfrm>
            <a:off x="1681308" y="2151560"/>
            <a:ext cx="5922169" cy="2785733"/>
          </a:xfrm>
          <a:prstGeom prst="rect">
            <a:avLst/>
          </a:prstGeom>
        </p:spPr>
        <p:txBody>
          <a:bodyPr lIns="0" tIns="0" rIns="0" bIns="0" rtlCol="0" anchor="t">
            <a:spAutoFit/>
          </a:bodyPr>
          <a:lstStyle/>
          <a:p>
            <a:pPr algn="ctr">
              <a:lnSpc>
                <a:spcPts val="4480"/>
              </a:lnSpc>
              <a:spcBef>
                <a:spcPct val="0"/>
              </a:spcBef>
            </a:pPr>
            <a:r>
              <a:rPr lang="en-US" sz="3200">
                <a:solidFill>
                  <a:srgbClr val="161B1C"/>
                </a:solidFill>
                <a:latin typeface="Open Sans"/>
                <a:ea typeface="Open Sans"/>
                <a:cs typeface="Open Sans"/>
                <a:sym typeface="Open Sans"/>
              </a:rPr>
              <a:t>Frontend</a:t>
            </a:r>
          </a:p>
          <a:p>
            <a:pPr marL="690984" lvl="1" indent="-345492" algn="l">
              <a:lnSpc>
                <a:spcPts val="4480"/>
              </a:lnSpc>
              <a:spcBef>
                <a:spcPct val="0"/>
              </a:spcBef>
              <a:buFont typeface="Arial"/>
              <a:buChar char="•"/>
            </a:pPr>
            <a:r>
              <a:rPr lang="en-US" sz="3200">
                <a:solidFill>
                  <a:srgbClr val="161B1C"/>
                </a:solidFill>
                <a:latin typeface="Open Sans"/>
                <a:ea typeface="Open Sans"/>
                <a:cs typeface="Open Sans"/>
                <a:sym typeface="Open Sans"/>
              </a:rPr>
              <a:t>React</a:t>
            </a:r>
          </a:p>
          <a:p>
            <a:pPr marL="690984" lvl="1" indent="-345492" algn="l">
              <a:lnSpc>
                <a:spcPts val="4480"/>
              </a:lnSpc>
              <a:spcBef>
                <a:spcPct val="0"/>
              </a:spcBef>
              <a:buFont typeface="Arial"/>
              <a:buChar char="•"/>
            </a:pPr>
            <a:r>
              <a:rPr lang="en-US" sz="3200">
                <a:solidFill>
                  <a:srgbClr val="161B1C"/>
                </a:solidFill>
                <a:latin typeface="Open Sans"/>
                <a:ea typeface="Open Sans"/>
                <a:cs typeface="Open Sans"/>
                <a:sym typeface="Open Sans"/>
              </a:rPr>
              <a:t>TypeScript</a:t>
            </a:r>
          </a:p>
          <a:p>
            <a:pPr marL="690984" lvl="1" indent="-345492" algn="l">
              <a:lnSpc>
                <a:spcPts val="4480"/>
              </a:lnSpc>
              <a:spcBef>
                <a:spcPct val="0"/>
              </a:spcBef>
              <a:buFont typeface="Arial"/>
              <a:buChar char="•"/>
            </a:pPr>
            <a:r>
              <a:rPr lang="en-US" sz="3200">
                <a:solidFill>
                  <a:srgbClr val="161B1C"/>
                </a:solidFill>
                <a:latin typeface="Open Sans"/>
                <a:ea typeface="Open Sans"/>
                <a:cs typeface="Open Sans"/>
                <a:sym typeface="Open Sans"/>
              </a:rPr>
              <a:t>Tailwind CSS</a:t>
            </a:r>
          </a:p>
          <a:p>
            <a:pPr algn="ctr">
              <a:lnSpc>
                <a:spcPts val="4480"/>
              </a:lnSpc>
              <a:spcBef>
                <a:spcPct val="0"/>
              </a:spcBef>
            </a:pPr>
            <a:endParaRPr lang="en-US" sz="3200">
              <a:solidFill>
                <a:srgbClr val="161B1C"/>
              </a:solidFill>
              <a:latin typeface="Open Sans"/>
              <a:ea typeface="Open Sans"/>
              <a:cs typeface="Open Sans"/>
              <a:sym typeface="Open Sans"/>
            </a:endParaRPr>
          </a:p>
        </p:txBody>
      </p:sp>
      <p:sp>
        <p:nvSpPr>
          <p:cNvPr id="9" name="TextBox 9"/>
          <p:cNvSpPr txBox="1"/>
          <p:nvPr/>
        </p:nvSpPr>
        <p:spPr>
          <a:xfrm>
            <a:off x="10380849" y="2068931"/>
            <a:ext cx="5922169" cy="3909683"/>
          </a:xfrm>
          <a:prstGeom prst="rect">
            <a:avLst/>
          </a:prstGeom>
        </p:spPr>
        <p:txBody>
          <a:bodyPr lIns="0" tIns="0" rIns="0" bIns="0" rtlCol="0" anchor="t">
            <a:spAutoFit/>
          </a:bodyPr>
          <a:lstStyle/>
          <a:p>
            <a:pPr algn="ctr">
              <a:lnSpc>
                <a:spcPts val="4480"/>
              </a:lnSpc>
              <a:spcBef>
                <a:spcPct val="0"/>
              </a:spcBef>
            </a:pPr>
            <a:r>
              <a:rPr lang="en-US" sz="3200">
                <a:solidFill>
                  <a:srgbClr val="161B1C"/>
                </a:solidFill>
                <a:latin typeface="Open Sans"/>
                <a:ea typeface="Open Sans"/>
                <a:cs typeface="Open Sans"/>
                <a:sym typeface="Open Sans"/>
              </a:rPr>
              <a:t>Backend</a:t>
            </a:r>
          </a:p>
          <a:p>
            <a:pPr marL="690984" lvl="1" indent="-345492" algn="l">
              <a:lnSpc>
                <a:spcPts val="4480"/>
              </a:lnSpc>
              <a:spcBef>
                <a:spcPct val="0"/>
              </a:spcBef>
              <a:buFont typeface="Arial"/>
              <a:buChar char="•"/>
            </a:pPr>
            <a:r>
              <a:rPr lang="en-US" sz="3200">
                <a:solidFill>
                  <a:srgbClr val="161B1C"/>
                </a:solidFill>
                <a:latin typeface="Open Sans"/>
                <a:ea typeface="Open Sans"/>
                <a:cs typeface="Open Sans"/>
                <a:sym typeface="Open Sans"/>
              </a:rPr>
              <a:t>Node.js</a:t>
            </a:r>
          </a:p>
          <a:p>
            <a:pPr marL="690984" lvl="1" indent="-345492" algn="l">
              <a:lnSpc>
                <a:spcPts val="4480"/>
              </a:lnSpc>
              <a:spcBef>
                <a:spcPct val="0"/>
              </a:spcBef>
              <a:buFont typeface="Arial"/>
              <a:buChar char="•"/>
            </a:pPr>
            <a:r>
              <a:rPr lang="en-US" sz="3200">
                <a:solidFill>
                  <a:srgbClr val="161B1C"/>
                </a:solidFill>
                <a:latin typeface="Open Sans"/>
                <a:ea typeface="Open Sans"/>
                <a:cs typeface="Open Sans"/>
                <a:sym typeface="Open Sans"/>
              </a:rPr>
              <a:t>Express.js</a:t>
            </a:r>
          </a:p>
          <a:p>
            <a:pPr marL="690984" lvl="1" indent="-345492" algn="l">
              <a:lnSpc>
                <a:spcPts val="4480"/>
              </a:lnSpc>
              <a:spcBef>
                <a:spcPct val="0"/>
              </a:spcBef>
              <a:buFont typeface="Arial"/>
              <a:buChar char="•"/>
            </a:pPr>
            <a:r>
              <a:rPr lang="en-US" sz="3200">
                <a:solidFill>
                  <a:srgbClr val="161B1C"/>
                </a:solidFill>
                <a:latin typeface="Open Sans"/>
                <a:ea typeface="Open Sans"/>
                <a:cs typeface="Open Sans"/>
                <a:sym typeface="Open Sans"/>
              </a:rPr>
              <a:t>TypeScript</a:t>
            </a:r>
          </a:p>
          <a:p>
            <a:pPr marL="690984" lvl="1" indent="-345492" algn="l">
              <a:lnSpc>
                <a:spcPts val="4480"/>
              </a:lnSpc>
              <a:spcBef>
                <a:spcPct val="0"/>
              </a:spcBef>
              <a:buFont typeface="Arial"/>
              <a:buChar char="•"/>
            </a:pPr>
            <a:r>
              <a:rPr lang="en-US" sz="3200">
                <a:solidFill>
                  <a:srgbClr val="161B1C"/>
                </a:solidFill>
                <a:latin typeface="Open Sans"/>
                <a:ea typeface="Open Sans"/>
                <a:cs typeface="Open Sans"/>
                <a:sym typeface="Open Sans"/>
              </a:rPr>
              <a:t>REST APIs</a:t>
            </a:r>
          </a:p>
          <a:p>
            <a:pPr algn="l">
              <a:lnSpc>
                <a:spcPts val="4480"/>
              </a:lnSpc>
              <a:spcBef>
                <a:spcPct val="0"/>
              </a:spcBef>
            </a:pPr>
            <a:endParaRPr lang="en-US" sz="3200">
              <a:solidFill>
                <a:srgbClr val="161B1C"/>
              </a:solidFill>
              <a:latin typeface="Open Sans"/>
              <a:ea typeface="Open Sans"/>
              <a:cs typeface="Open Sans"/>
              <a:sym typeface="Open Sans"/>
            </a:endParaRPr>
          </a:p>
          <a:p>
            <a:pPr algn="ctr">
              <a:lnSpc>
                <a:spcPts val="4480"/>
              </a:lnSpc>
              <a:spcBef>
                <a:spcPct val="0"/>
              </a:spcBef>
            </a:pPr>
            <a:endParaRPr lang="en-US" sz="3200">
              <a:solidFill>
                <a:srgbClr val="161B1C"/>
              </a:solidFill>
              <a:latin typeface="Open Sans"/>
              <a:ea typeface="Open Sans"/>
              <a:cs typeface="Open Sans"/>
              <a:sym typeface="Open Sans"/>
            </a:endParaRPr>
          </a:p>
        </p:txBody>
      </p:sp>
      <p:sp>
        <p:nvSpPr>
          <p:cNvPr id="10" name="TextBox 10"/>
          <p:cNvSpPr txBox="1"/>
          <p:nvPr/>
        </p:nvSpPr>
        <p:spPr>
          <a:xfrm>
            <a:off x="1708602" y="6282874"/>
            <a:ext cx="5922169" cy="1661783"/>
          </a:xfrm>
          <a:prstGeom prst="rect">
            <a:avLst/>
          </a:prstGeom>
        </p:spPr>
        <p:txBody>
          <a:bodyPr lIns="0" tIns="0" rIns="0" bIns="0" rtlCol="0" anchor="t">
            <a:spAutoFit/>
          </a:bodyPr>
          <a:lstStyle/>
          <a:p>
            <a:pPr algn="ctr">
              <a:lnSpc>
                <a:spcPts val="4480"/>
              </a:lnSpc>
              <a:spcBef>
                <a:spcPct val="0"/>
              </a:spcBef>
            </a:pPr>
            <a:r>
              <a:rPr lang="en-US" sz="3200">
                <a:solidFill>
                  <a:srgbClr val="161B1C"/>
                </a:solidFill>
                <a:latin typeface="Open Sans"/>
                <a:ea typeface="Open Sans"/>
                <a:cs typeface="Open Sans"/>
                <a:sym typeface="Open Sans"/>
              </a:rPr>
              <a:t>Database</a:t>
            </a:r>
          </a:p>
          <a:p>
            <a:pPr marL="690984" lvl="1" indent="-345492" algn="l">
              <a:lnSpc>
                <a:spcPts val="4480"/>
              </a:lnSpc>
              <a:spcBef>
                <a:spcPct val="0"/>
              </a:spcBef>
              <a:buFont typeface="Arial"/>
              <a:buChar char="•"/>
            </a:pPr>
            <a:r>
              <a:rPr lang="en-US" sz="3200">
                <a:solidFill>
                  <a:srgbClr val="161B1C"/>
                </a:solidFill>
                <a:latin typeface="Open Sans"/>
                <a:ea typeface="Open Sans"/>
                <a:cs typeface="Open Sans"/>
                <a:sym typeface="Open Sans"/>
              </a:rPr>
              <a:t>MongoDB</a:t>
            </a:r>
          </a:p>
          <a:p>
            <a:pPr algn="ctr">
              <a:lnSpc>
                <a:spcPts val="4480"/>
              </a:lnSpc>
              <a:spcBef>
                <a:spcPct val="0"/>
              </a:spcBef>
            </a:pPr>
            <a:endParaRPr lang="en-US" sz="3200">
              <a:solidFill>
                <a:srgbClr val="161B1C"/>
              </a:solidFill>
              <a:latin typeface="Open Sans"/>
              <a:ea typeface="Open Sans"/>
              <a:cs typeface="Open Sans"/>
              <a:sym typeface="Open Sans"/>
            </a:endParaRPr>
          </a:p>
        </p:txBody>
      </p:sp>
      <p:sp>
        <p:nvSpPr>
          <p:cNvPr id="11" name="TextBox 11"/>
          <p:cNvSpPr txBox="1"/>
          <p:nvPr/>
        </p:nvSpPr>
        <p:spPr>
          <a:xfrm>
            <a:off x="10533801" y="6242228"/>
            <a:ext cx="5922169" cy="3347708"/>
          </a:xfrm>
          <a:prstGeom prst="rect">
            <a:avLst/>
          </a:prstGeom>
        </p:spPr>
        <p:txBody>
          <a:bodyPr lIns="0" tIns="0" rIns="0" bIns="0" rtlCol="0" anchor="t">
            <a:spAutoFit/>
          </a:bodyPr>
          <a:lstStyle/>
          <a:p>
            <a:pPr algn="ctr">
              <a:lnSpc>
                <a:spcPts val="4480"/>
              </a:lnSpc>
              <a:spcBef>
                <a:spcPct val="0"/>
              </a:spcBef>
            </a:pPr>
            <a:r>
              <a:rPr lang="en-US" sz="3200">
                <a:solidFill>
                  <a:srgbClr val="161B1C"/>
                </a:solidFill>
                <a:latin typeface="Open Sans"/>
                <a:ea typeface="Open Sans"/>
                <a:cs typeface="Open Sans"/>
                <a:sym typeface="Open Sans"/>
              </a:rPr>
              <a:t>Development Tools</a:t>
            </a:r>
          </a:p>
          <a:p>
            <a:pPr marL="690984" lvl="1" indent="-345492" algn="just">
              <a:lnSpc>
                <a:spcPts val="4480"/>
              </a:lnSpc>
              <a:spcBef>
                <a:spcPct val="0"/>
              </a:spcBef>
              <a:buFont typeface="Arial"/>
              <a:buChar char="•"/>
            </a:pPr>
            <a:r>
              <a:rPr lang="en-US" sz="3200">
                <a:solidFill>
                  <a:srgbClr val="161B1C"/>
                </a:solidFill>
                <a:latin typeface="Open Sans"/>
                <a:ea typeface="Open Sans"/>
                <a:cs typeface="Open Sans"/>
                <a:sym typeface="Open Sans"/>
              </a:rPr>
              <a:t>VS Code</a:t>
            </a:r>
          </a:p>
          <a:p>
            <a:pPr marL="690984" lvl="1" indent="-345492" algn="just">
              <a:lnSpc>
                <a:spcPts val="4480"/>
              </a:lnSpc>
              <a:spcBef>
                <a:spcPct val="0"/>
              </a:spcBef>
              <a:buFont typeface="Arial"/>
              <a:buChar char="•"/>
            </a:pPr>
            <a:r>
              <a:rPr lang="en-US" sz="3200">
                <a:solidFill>
                  <a:srgbClr val="161B1C"/>
                </a:solidFill>
                <a:latin typeface="Open Sans"/>
                <a:ea typeface="Open Sans"/>
                <a:cs typeface="Open Sans"/>
                <a:sym typeface="Open Sans"/>
              </a:rPr>
              <a:t>GitHub</a:t>
            </a:r>
          </a:p>
          <a:p>
            <a:pPr algn="just">
              <a:lnSpc>
                <a:spcPts val="4480"/>
              </a:lnSpc>
              <a:spcBef>
                <a:spcPct val="0"/>
              </a:spcBef>
            </a:pPr>
            <a:endParaRPr lang="en-US" sz="3200">
              <a:solidFill>
                <a:srgbClr val="161B1C"/>
              </a:solidFill>
              <a:latin typeface="Open Sans"/>
              <a:ea typeface="Open Sans"/>
              <a:cs typeface="Open Sans"/>
              <a:sym typeface="Open Sans"/>
            </a:endParaRPr>
          </a:p>
          <a:p>
            <a:pPr algn="just">
              <a:lnSpc>
                <a:spcPts val="4480"/>
              </a:lnSpc>
              <a:spcBef>
                <a:spcPct val="0"/>
              </a:spcBef>
            </a:pPr>
            <a:endParaRPr lang="en-US" sz="3200">
              <a:solidFill>
                <a:srgbClr val="161B1C"/>
              </a:solidFill>
              <a:latin typeface="Open Sans"/>
              <a:ea typeface="Open Sans"/>
              <a:cs typeface="Open Sans"/>
              <a:sym typeface="Open Sans"/>
            </a:endParaRPr>
          </a:p>
          <a:p>
            <a:pPr algn="just">
              <a:lnSpc>
                <a:spcPts val="4480"/>
              </a:lnSpc>
              <a:spcBef>
                <a:spcPct val="0"/>
              </a:spcBef>
            </a:pPr>
            <a:endParaRPr lang="en-US" sz="3200">
              <a:solidFill>
                <a:srgbClr val="161B1C"/>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rot="5400000" flipH="1">
            <a:off x="-3306107" y="5694113"/>
            <a:ext cx="7603204" cy="1891297"/>
          </a:xfrm>
          <a:custGeom>
            <a:avLst/>
            <a:gdLst/>
            <a:ahLst/>
            <a:cxnLst/>
            <a:rect l="l" t="t" r="r" b="b"/>
            <a:pathLst>
              <a:path w="7603204" h="1891297">
                <a:moveTo>
                  <a:pt x="7603204" y="0"/>
                </a:moveTo>
                <a:lnTo>
                  <a:pt x="0" y="0"/>
                </a:lnTo>
                <a:lnTo>
                  <a:pt x="0" y="1891297"/>
                </a:lnTo>
                <a:lnTo>
                  <a:pt x="7603204" y="1891297"/>
                </a:lnTo>
                <a:lnTo>
                  <a:pt x="7603204" y="0"/>
                </a:lnTo>
                <a:close/>
              </a:path>
            </a:pathLst>
          </a:custGeom>
          <a:blipFill>
            <a:blip r:embed="rId3"/>
            <a:stretch>
              <a:fillRect/>
            </a:stretch>
          </a:blipFill>
        </p:spPr>
      </p:sp>
      <p:sp>
        <p:nvSpPr>
          <p:cNvPr id="4" name="Freeform 4"/>
          <p:cNvSpPr/>
          <p:nvPr/>
        </p:nvSpPr>
        <p:spPr>
          <a:xfrm>
            <a:off x="0" y="0"/>
            <a:ext cx="4262923" cy="5120628"/>
          </a:xfrm>
          <a:custGeom>
            <a:avLst/>
            <a:gdLst/>
            <a:ahLst/>
            <a:cxnLst/>
            <a:rect l="l" t="t" r="r" b="b"/>
            <a:pathLst>
              <a:path w="4262923" h="5120628">
                <a:moveTo>
                  <a:pt x="0" y="0"/>
                </a:moveTo>
                <a:lnTo>
                  <a:pt x="4262923" y="0"/>
                </a:lnTo>
                <a:lnTo>
                  <a:pt x="4262923" y="5120627"/>
                </a:lnTo>
                <a:lnTo>
                  <a:pt x="0" y="5120627"/>
                </a:lnTo>
                <a:lnTo>
                  <a:pt x="0" y="0"/>
                </a:lnTo>
                <a:close/>
              </a:path>
            </a:pathLst>
          </a:custGeom>
          <a:blipFill>
            <a:blip r:embed="rId4"/>
            <a:stretch>
              <a:fillRect/>
            </a:stretch>
          </a:blipFill>
        </p:spPr>
      </p:sp>
      <p:sp>
        <p:nvSpPr>
          <p:cNvPr id="5" name="Freeform 5"/>
          <p:cNvSpPr/>
          <p:nvPr/>
        </p:nvSpPr>
        <p:spPr>
          <a:xfrm rot="5400000" flipV="1">
            <a:off x="13994907" y="2627353"/>
            <a:ext cx="7603204" cy="1891297"/>
          </a:xfrm>
          <a:custGeom>
            <a:avLst/>
            <a:gdLst/>
            <a:ahLst/>
            <a:cxnLst/>
            <a:rect l="l" t="t" r="r" b="b"/>
            <a:pathLst>
              <a:path w="7603204" h="1891297">
                <a:moveTo>
                  <a:pt x="0" y="1891297"/>
                </a:moveTo>
                <a:lnTo>
                  <a:pt x="7603203" y="1891297"/>
                </a:lnTo>
                <a:lnTo>
                  <a:pt x="7603203" y="0"/>
                </a:lnTo>
                <a:lnTo>
                  <a:pt x="0" y="0"/>
                </a:lnTo>
                <a:lnTo>
                  <a:pt x="0" y="1891297"/>
                </a:lnTo>
                <a:close/>
              </a:path>
            </a:pathLst>
          </a:custGeom>
          <a:blipFill>
            <a:blip r:embed="rId3"/>
            <a:stretch>
              <a:fillRect/>
            </a:stretch>
          </a:blipFill>
        </p:spPr>
      </p:sp>
      <p:sp>
        <p:nvSpPr>
          <p:cNvPr id="6" name="Freeform 6"/>
          <p:cNvSpPr/>
          <p:nvPr/>
        </p:nvSpPr>
        <p:spPr>
          <a:xfrm flipH="1" flipV="1">
            <a:off x="14324509" y="5585433"/>
            <a:ext cx="4262923" cy="5120628"/>
          </a:xfrm>
          <a:custGeom>
            <a:avLst/>
            <a:gdLst/>
            <a:ahLst/>
            <a:cxnLst/>
            <a:rect l="l" t="t" r="r" b="b"/>
            <a:pathLst>
              <a:path w="4262923" h="5120628">
                <a:moveTo>
                  <a:pt x="4262923" y="5120628"/>
                </a:moveTo>
                <a:lnTo>
                  <a:pt x="0" y="5120628"/>
                </a:lnTo>
                <a:lnTo>
                  <a:pt x="0" y="0"/>
                </a:lnTo>
                <a:lnTo>
                  <a:pt x="4262923" y="0"/>
                </a:lnTo>
                <a:lnTo>
                  <a:pt x="4262923" y="5120628"/>
                </a:lnTo>
                <a:close/>
              </a:path>
            </a:pathLst>
          </a:custGeom>
          <a:blipFill>
            <a:blip r:embed="rId4"/>
            <a:stretch>
              <a:fillRect/>
            </a:stretch>
          </a:blipFill>
        </p:spPr>
      </p:sp>
      <p:sp>
        <p:nvSpPr>
          <p:cNvPr id="7" name="TextBox 7"/>
          <p:cNvSpPr txBox="1"/>
          <p:nvPr/>
        </p:nvSpPr>
        <p:spPr>
          <a:xfrm>
            <a:off x="3435600" y="2148352"/>
            <a:ext cx="11415888" cy="6401753"/>
          </a:xfrm>
          <a:prstGeom prst="rect">
            <a:avLst/>
          </a:prstGeom>
        </p:spPr>
        <p:txBody>
          <a:bodyPr wrap="square" lIns="0" tIns="0" rIns="0" bIns="0" rtlCol="0" anchor="t">
            <a:spAutoFit/>
          </a:bodyPr>
          <a:lstStyle/>
          <a:p>
            <a:r>
              <a:rPr lang="en-IN" sz="3200" b="1" dirty="0"/>
              <a:t>Forward Chaining Algorithm</a:t>
            </a:r>
          </a:p>
          <a:p>
            <a:pPr lvl="0"/>
            <a:r>
              <a:rPr lang="en-IN" sz="3200" b="1" dirty="0"/>
              <a:t>Forward Chaining</a:t>
            </a:r>
            <a:r>
              <a:rPr lang="en-IN" sz="3200" dirty="0"/>
              <a:t> is a </a:t>
            </a:r>
            <a:r>
              <a:rPr lang="en-IN" sz="3200" b="1" dirty="0"/>
              <a:t>data-driven inference technique</a:t>
            </a:r>
            <a:r>
              <a:rPr lang="en-IN" sz="3200" dirty="0"/>
              <a:t> used in rule-based AI systems.</a:t>
            </a:r>
          </a:p>
          <a:p>
            <a:pPr lvl="0"/>
            <a:r>
              <a:rPr lang="en-IN" sz="3200" dirty="0"/>
              <a:t>It starts with </a:t>
            </a:r>
            <a:r>
              <a:rPr lang="en-IN" sz="3200" b="1" dirty="0"/>
              <a:t>known facts</a:t>
            </a:r>
            <a:r>
              <a:rPr lang="en-IN" sz="3200" dirty="0"/>
              <a:t> and applies </a:t>
            </a:r>
            <a:r>
              <a:rPr lang="en-IN" sz="3200" b="1" dirty="0"/>
              <a:t>IF–THEN rules</a:t>
            </a:r>
            <a:r>
              <a:rPr lang="en-IN" sz="3200" dirty="0"/>
              <a:t> to derive new facts and conclusions.</a:t>
            </a:r>
          </a:p>
          <a:p>
            <a:pPr lvl="0"/>
            <a:r>
              <a:rPr lang="en-IN" sz="3200" dirty="0"/>
              <a:t>In our project, it checks </a:t>
            </a:r>
            <a:r>
              <a:rPr lang="en-IN" sz="3200" b="1" dirty="0"/>
              <a:t>hackathon status, registration type, team size, and eligibility rules</a:t>
            </a:r>
            <a:r>
              <a:rPr lang="en-IN" sz="3200" dirty="0"/>
              <a:t>.</a:t>
            </a:r>
          </a:p>
          <a:p>
            <a:pPr lvl="0"/>
            <a:r>
              <a:rPr lang="en-IN" sz="3200" dirty="0"/>
              <a:t>The process continues until a </a:t>
            </a:r>
            <a:r>
              <a:rPr lang="en-IN" sz="3200" b="1" dirty="0"/>
              <a:t>team formation decision</a:t>
            </a:r>
            <a:r>
              <a:rPr lang="en-IN" sz="3200" dirty="0"/>
              <a:t> is reached.</a:t>
            </a:r>
          </a:p>
          <a:p>
            <a:r>
              <a:rPr lang="en-IN" sz="3200" b="1" dirty="0"/>
              <a:t>Flow:</a:t>
            </a:r>
            <a:br>
              <a:rPr lang="en-IN" sz="3200" dirty="0"/>
            </a:br>
            <a:r>
              <a:rPr lang="en-IN" sz="3200" b="1" dirty="0"/>
              <a:t>Facts → IF–THEN Rules → Forward Chaining → Decision</a:t>
            </a:r>
            <a:endParaRPr lang="en-IN" sz="3200" dirty="0"/>
          </a:p>
          <a:p>
            <a:r>
              <a:rPr lang="en-IN" sz="3200" b="1" dirty="0"/>
              <a:t>Example:</a:t>
            </a:r>
            <a:br>
              <a:rPr lang="en-IN" sz="3200" dirty="0"/>
            </a:br>
            <a:r>
              <a:rPr lang="en-IN" sz="3200" b="1" dirty="0"/>
              <a:t>IF</a:t>
            </a:r>
            <a:r>
              <a:rPr lang="en-IN" sz="3200" dirty="0"/>
              <a:t> hackathon is published + team has space + student is eligible</a:t>
            </a:r>
            <a:br>
              <a:rPr lang="en-IN" sz="3200" dirty="0"/>
            </a:br>
            <a:r>
              <a:rPr lang="en-IN" sz="3200" b="1" dirty="0"/>
              <a:t>THEN → Allow Team Formation</a:t>
            </a:r>
            <a:endParaRPr lang="en-IN" sz="3200" dirty="0"/>
          </a:p>
        </p:txBody>
      </p:sp>
      <p:sp>
        <p:nvSpPr>
          <p:cNvPr id="8" name="TextBox 8"/>
          <p:cNvSpPr txBox="1"/>
          <p:nvPr/>
        </p:nvSpPr>
        <p:spPr>
          <a:xfrm>
            <a:off x="4745178" y="171450"/>
            <a:ext cx="9209608" cy="1543050"/>
          </a:xfrm>
          <a:prstGeom prst="rect">
            <a:avLst/>
          </a:prstGeom>
        </p:spPr>
        <p:txBody>
          <a:bodyPr lIns="0" tIns="0" rIns="0" bIns="0" rtlCol="0" anchor="t">
            <a:spAutoFit/>
          </a:bodyPr>
          <a:lstStyle/>
          <a:p>
            <a:pPr algn="ctr">
              <a:lnSpc>
                <a:spcPts val="12599"/>
              </a:lnSpc>
            </a:pPr>
            <a:r>
              <a:rPr lang="en-US" sz="9000">
                <a:solidFill>
                  <a:srgbClr val="161B1C"/>
                </a:solidFill>
                <a:latin typeface="Sego"/>
                <a:ea typeface="Sego"/>
                <a:cs typeface="Sego"/>
                <a:sym typeface="Sego"/>
              </a:rPr>
              <a:t>Algorithm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rot="5400000" flipH="1">
            <a:off x="-3306107" y="5694113"/>
            <a:ext cx="7603204" cy="1891297"/>
          </a:xfrm>
          <a:custGeom>
            <a:avLst/>
            <a:gdLst/>
            <a:ahLst/>
            <a:cxnLst/>
            <a:rect l="l" t="t" r="r" b="b"/>
            <a:pathLst>
              <a:path w="7603204" h="1891297">
                <a:moveTo>
                  <a:pt x="7603204" y="0"/>
                </a:moveTo>
                <a:lnTo>
                  <a:pt x="0" y="0"/>
                </a:lnTo>
                <a:lnTo>
                  <a:pt x="0" y="1891297"/>
                </a:lnTo>
                <a:lnTo>
                  <a:pt x="7603204" y="1891297"/>
                </a:lnTo>
                <a:lnTo>
                  <a:pt x="7603204" y="0"/>
                </a:lnTo>
                <a:close/>
              </a:path>
            </a:pathLst>
          </a:custGeom>
          <a:blipFill>
            <a:blip r:embed="rId3"/>
            <a:stretch>
              <a:fillRect/>
            </a:stretch>
          </a:blipFill>
        </p:spPr>
      </p:sp>
      <p:sp>
        <p:nvSpPr>
          <p:cNvPr id="4" name="Freeform 4"/>
          <p:cNvSpPr/>
          <p:nvPr/>
        </p:nvSpPr>
        <p:spPr>
          <a:xfrm>
            <a:off x="-450153" y="-434233"/>
            <a:ext cx="4262923" cy="5120628"/>
          </a:xfrm>
          <a:custGeom>
            <a:avLst/>
            <a:gdLst/>
            <a:ahLst/>
            <a:cxnLst/>
            <a:rect l="l" t="t" r="r" b="b"/>
            <a:pathLst>
              <a:path w="4262923" h="5120628">
                <a:moveTo>
                  <a:pt x="0" y="0"/>
                </a:moveTo>
                <a:lnTo>
                  <a:pt x="4262923" y="0"/>
                </a:lnTo>
                <a:lnTo>
                  <a:pt x="4262923" y="5120627"/>
                </a:lnTo>
                <a:lnTo>
                  <a:pt x="0" y="5120627"/>
                </a:lnTo>
                <a:lnTo>
                  <a:pt x="0" y="0"/>
                </a:lnTo>
                <a:close/>
              </a:path>
            </a:pathLst>
          </a:custGeom>
          <a:blipFill>
            <a:blip r:embed="rId4"/>
            <a:stretch>
              <a:fillRect/>
            </a:stretch>
          </a:blipFill>
        </p:spPr>
      </p:sp>
      <p:sp>
        <p:nvSpPr>
          <p:cNvPr id="5" name="Freeform 5"/>
          <p:cNvSpPr/>
          <p:nvPr/>
        </p:nvSpPr>
        <p:spPr>
          <a:xfrm rot="5400000" flipV="1">
            <a:off x="13994907" y="2627353"/>
            <a:ext cx="7603204" cy="1891297"/>
          </a:xfrm>
          <a:custGeom>
            <a:avLst/>
            <a:gdLst/>
            <a:ahLst/>
            <a:cxnLst/>
            <a:rect l="l" t="t" r="r" b="b"/>
            <a:pathLst>
              <a:path w="7603204" h="1891297">
                <a:moveTo>
                  <a:pt x="0" y="1891297"/>
                </a:moveTo>
                <a:lnTo>
                  <a:pt x="7603203" y="1891297"/>
                </a:lnTo>
                <a:lnTo>
                  <a:pt x="7603203" y="0"/>
                </a:lnTo>
                <a:lnTo>
                  <a:pt x="0" y="0"/>
                </a:lnTo>
                <a:lnTo>
                  <a:pt x="0" y="1891297"/>
                </a:lnTo>
                <a:close/>
              </a:path>
            </a:pathLst>
          </a:custGeom>
          <a:blipFill>
            <a:blip r:embed="rId3"/>
            <a:stretch>
              <a:fillRect/>
            </a:stretch>
          </a:blipFill>
        </p:spPr>
      </p:sp>
      <p:sp>
        <p:nvSpPr>
          <p:cNvPr id="6" name="Freeform 6"/>
          <p:cNvSpPr/>
          <p:nvPr/>
        </p:nvSpPr>
        <p:spPr>
          <a:xfrm flipH="1" flipV="1">
            <a:off x="14324509" y="5585433"/>
            <a:ext cx="4262923" cy="5120628"/>
          </a:xfrm>
          <a:custGeom>
            <a:avLst/>
            <a:gdLst/>
            <a:ahLst/>
            <a:cxnLst/>
            <a:rect l="l" t="t" r="r" b="b"/>
            <a:pathLst>
              <a:path w="4262923" h="5120628">
                <a:moveTo>
                  <a:pt x="4262923" y="5120628"/>
                </a:moveTo>
                <a:lnTo>
                  <a:pt x="0" y="5120628"/>
                </a:lnTo>
                <a:lnTo>
                  <a:pt x="0" y="0"/>
                </a:lnTo>
                <a:lnTo>
                  <a:pt x="4262923" y="0"/>
                </a:lnTo>
                <a:lnTo>
                  <a:pt x="4262923" y="5120628"/>
                </a:lnTo>
                <a:close/>
              </a:path>
            </a:pathLst>
          </a:custGeom>
          <a:blipFill>
            <a:blip r:embed="rId4"/>
            <a:stretch>
              <a:fillRect/>
            </a:stretch>
          </a:blipFill>
        </p:spPr>
      </p:sp>
      <p:sp>
        <p:nvSpPr>
          <p:cNvPr id="7" name="Freeform 7"/>
          <p:cNvSpPr/>
          <p:nvPr/>
        </p:nvSpPr>
        <p:spPr>
          <a:xfrm>
            <a:off x="2337650" y="2641887"/>
            <a:ext cx="7517023" cy="3432534"/>
          </a:xfrm>
          <a:custGeom>
            <a:avLst/>
            <a:gdLst/>
            <a:ahLst/>
            <a:cxnLst/>
            <a:rect l="l" t="t" r="r" b="b"/>
            <a:pathLst>
              <a:path w="7517023" h="3432534">
                <a:moveTo>
                  <a:pt x="0" y="0"/>
                </a:moveTo>
                <a:lnTo>
                  <a:pt x="7517023" y="0"/>
                </a:lnTo>
                <a:lnTo>
                  <a:pt x="7517023" y="3432534"/>
                </a:lnTo>
                <a:lnTo>
                  <a:pt x="0" y="3432534"/>
                </a:lnTo>
                <a:lnTo>
                  <a:pt x="0" y="0"/>
                </a:lnTo>
                <a:close/>
              </a:path>
            </a:pathLst>
          </a:custGeom>
          <a:blipFill>
            <a:blip r:embed="rId5"/>
            <a:stretch>
              <a:fillRect r="-6040"/>
            </a:stretch>
          </a:blipFill>
        </p:spPr>
      </p:sp>
      <p:sp>
        <p:nvSpPr>
          <p:cNvPr id="8" name="Freeform 8"/>
          <p:cNvSpPr/>
          <p:nvPr/>
        </p:nvSpPr>
        <p:spPr>
          <a:xfrm>
            <a:off x="2202417" y="6639761"/>
            <a:ext cx="7652256" cy="3234553"/>
          </a:xfrm>
          <a:custGeom>
            <a:avLst/>
            <a:gdLst/>
            <a:ahLst/>
            <a:cxnLst/>
            <a:rect l="l" t="t" r="r" b="b"/>
            <a:pathLst>
              <a:path w="7652256" h="3234553">
                <a:moveTo>
                  <a:pt x="0" y="0"/>
                </a:moveTo>
                <a:lnTo>
                  <a:pt x="7652256" y="0"/>
                </a:lnTo>
                <a:lnTo>
                  <a:pt x="7652256" y="3234554"/>
                </a:lnTo>
                <a:lnTo>
                  <a:pt x="0" y="3234554"/>
                </a:lnTo>
                <a:lnTo>
                  <a:pt x="0" y="0"/>
                </a:lnTo>
                <a:close/>
              </a:path>
            </a:pathLst>
          </a:custGeom>
          <a:blipFill>
            <a:blip r:embed="rId6"/>
            <a:stretch>
              <a:fillRect t="-1973" b="-1973"/>
            </a:stretch>
          </a:blipFill>
        </p:spPr>
      </p:sp>
      <p:sp>
        <p:nvSpPr>
          <p:cNvPr id="9" name="TextBox 9"/>
          <p:cNvSpPr txBox="1"/>
          <p:nvPr/>
        </p:nvSpPr>
        <p:spPr>
          <a:xfrm>
            <a:off x="4539196" y="399943"/>
            <a:ext cx="9209608" cy="1543050"/>
          </a:xfrm>
          <a:prstGeom prst="rect">
            <a:avLst/>
          </a:prstGeom>
        </p:spPr>
        <p:txBody>
          <a:bodyPr lIns="0" tIns="0" rIns="0" bIns="0" rtlCol="0" anchor="t">
            <a:spAutoFit/>
          </a:bodyPr>
          <a:lstStyle/>
          <a:p>
            <a:pPr algn="ctr">
              <a:lnSpc>
                <a:spcPts val="12599"/>
              </a:lnSpc>
            </a:pPr>
            <a:r>
              <a:rPr lang="en-US" sz="9000">
                <a:solidFill>
                  <a:srgbClr val="161B1C"/>
                </a:solidFill>
                <a:latin typeface="Sego"/>
                <a:ea typeface="Sego"/>
                <a:cs typeface="Sego"/>
                <a:sym typeface="Sego"/>
              </a:rPr>
              <a:t>Output </a:t>
            </a:r>
          </a:p>
        </p:txBody>
      </p:sp>
      <p:sp>
        <p:nvSpPr>
          <p:cNvPr id="10" name="TextBox 10"/>
          <p:cNvSpPr txBox="1"/>
          <p:nvPr/>
        </p:nvSpPr>
        <p:spPr>
          <a:xfrm>
            <a:off x="-1050156" y="1885843"/>
            <a:ext cx="9209608" cy="537833"/>
          </a:xfrm>
          <a:prstGeom prst="rect">
            <a:avLst/>
          </a:prstGeom>
        </p:spPr>
        <p:txBody>
          <a:bodyPr lIns="0" tIns="0" rIns="0" bIns="0" rtlCol="0" anchor="t">
            <a:spAutoFit/>
          </a:bodyPr>
          <a:lstStyle/>
          <a:p>
            <a:pPr algn="ctr">
              <a:lnSpc>
                <a:spcPts val="4480"/>
              </a:lnSpc>
              <a:spcBef>
                <a:spcPct val="0"/>
              </a:spcBef>
            </a:pPr>
            <a:r>
              <a:rPr lang="en-US" sz="3200">
                <a:solidFill>
                  <a:srgbClr val="161B1C"/>
                </a:solidFill>
                <a:latin typeface="Open Sans"/>
                <a:ea typeface="Open Sans"/>
                <a:cs typeface="Open Sans"/>
                <a:sym typeface="Open Sans"/>
              </a:rPr>
              <a:t>Organiser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rot="5400000" flipH="1">
            <a:off x="-3306107" y="5694113"/>
            <a:ext cx="7603204" cy="1891297"/>
          </a:xfrm>
          <a:custGeom>
            <a:avLst/>
            <a:gdLst/>
            <a:ahLst/>
            <a:cxnLst/>
            <a:rect l="l" t="t" r="r" b="b"/>
            <a:pathLst>
              <a:path w="7603204" h="1891297">
                <a:moveTo>
                  <a:pt x="7603204" y="0"/>
                </a:moveTo>
                <a:lnTo>
                  <a:pt x="0" y="0"/>
                </a:lnTo>
                <a:lnTo>
                  <a:pt x="0" y="1891297"/>
                </a:lnTo>
                <a:lnTo>
                  <a:pt x="7603204" y="1891297"/>
                </a:lnTo>
                <a:lnTo>
                  <a:pt x="7603204" y="0"/>
                </a:lnTo>
                <a:close/>
              </a:path>
            </a:pathLst>
          </a:custGeom>
          <a:blipFill>
            <a:blip r:embed="rId3"/>
            <a:stretch>
              <a:fillRect/>
            </a:stretch>
          </a:blipFill>
        </p:spPr>
      </p:sp>
      <p:sp>
        <p:nvSpPr>
          <p:cNvPr id="4" name="Freeform 4"/>
          <p:cNvSpPr/>
          <p:nvPr/>
        </p:nvSpPr>
        <p:spPr>
          <a:xfrm>
            <a:off x="-450153" y="-434233"/>
            <a:ext cx="4262923" cy="5120628"/>
          </a:xfrm>
          <a:custGeom>
            <a:avLst/>
            <a:gdLst/>
            <a:ahLst/>
            <a:cxnLst/>
            <a:rect l="l" t="t" r="r" b="b"/>
            <a:pathLst>
              <a:path w="4262923" h="5120628">
                <a:moveTo>
                  <a:pt x="0" y="0"/>
                </a:moveTo>
                <a:lnTo>
                  <a:pt x="4262923" y="0"/>
                </a:lnTo>
                <a:lnTo>
                  <a:pt x="4262923" y="5120627"/>
                </a:lnTo>
                <a:lnTo>
                  <a:pt x="0" y="5120627"/>
                </a:lnTo>
                <a:lnTo>
                  <a:pt x="0" y="0"/>
                </a:lnTo>
                <a:close/>
              </a:path>
            </a:pathLst>
          </a:custGeom>
          <a:blipFill>
            <a:blip r:embed="rId4"/>
            <a:stretch>
              <a:fillRect/>
            </a:stretch>
          </a:blipFill>
        </p:spPr>
      </p:sp>
      <p:sp>
        <p:nvSpPr>
          <p:cNvPr id="5" name="Freeform 5"/>
          <p:cNvSpPr/>
          <p:nvPr/>
        </p:nvSpPr>
        <p:spPr>
          <a:xfrm rot="5400000" flipV="1">
            <a:off x="13994907" y="2627353"/>
            <a:ext cx="7603204" cy="1891297"/>
          </a:xfrm>
          <a:custGeom>
            <a:avLst/>
            <a:gdLst/>
            <a:ahLst/>
            <a:cxnLst/>
            <a:rect l="l" t="t" r="r" b="b"/>
            <a:pathLst>
              <a:path w="7603204" h="1891297">
                <a:moveTo>
                  <a:pt x="0" y="1891297"/>
                </a:moveTo>
                <a:lnTo>
                  <a:pt x="7603203" y="1891297"/>
                </a:lnTo>
                <a:lnTo>
                  <a:pt x="7603203" y="0"/>
                </a:lnTo>
                <a:lnTo>
                  <a:pt x="0" y="0"/>
                </a:lnTo>
                <a:lnTo>
                  <a:pt x="0" y="1891297"/>
                </a:lnTo>
                <a:close/>
              </a:path>
            </a:pathLst>
          </a:custGeom>
          <a:blipFill>
            <a:blip r:embed="rId3"/>
            <a:stretch>
              <a:fillRect/>
            </a:stretch>
          </a:blipFill>
        </p:spPr>
      </p:sp>
      <p:sp>
        <p:nvSpPr>
          <p:cNvPr id="6" name="Freeform 6"/>
          <p:cNvSpPr/>
          <p:nvPr/>
        </p:nvSpPr>
        <p:spPr>
          <a:xfrm flipH="1" flipV="1">
            <a:off x="14324509" y="5585433"/>
            <a:ext cx="4262923" cy="5120628"/>
          </a:xfrm>
          <a:custGeom>
            <a:avLst/>
            <a:gdLst/>
            <a:ahLst/>
            <a:cxnLst/>
            <a:rect l="l" t="t" r="r" b="b"/>
            <a:pathLst>
              <a:path w="4262923" h="5120628">
                <a:moveTo>
                  <a:pt x="4262923" y="5120628"/>
                </a:moveTo>
                <a:lnTo>
                  <a:pt x="0" y="5120628"/>
                </a:lnTo>
                <a:lnTo>
                  <a:pt x="0" y="0"/>
                </a:lnTo>
                <a:lnTo>
                  <a:pt x="4262923" y="0"/>
                </a:lnTo>
                <a:lnTo>
                  <a:pt x="4262923" y="5120628"/>
                </a:lnTo>
                <a:close/>
              </a:path>
            </a:pathLst>
          </a:custGeom>
          <a:blipFill>
            <a:blip r:embed="rId4"/>
            <a:stretch>
              <a:fillRect/>
            </a:stretch>
          </a:blipFill>
        </p:spPr>
      </p:sp>
      <p:sp>
        <p:nvSpPr>
          <p:cNvPr id="7" name="Freeform 7"/>
          <p:cNvSpPr/>
          <p:nvPr/>
        </p:nvSpPr>
        <p:spPr>
          <a:xfrm>
            <a:off x="1964038" y="2500743"/>
            <a:ext cx="7923831" cy="3382485"/>
          </a:xfrm>
          <a:custGeom>
            <a:avLst/>
            <a:gdLst/>
            <a:ahLst/>
            <a:cxnLst/>
            <a:rect l="l" t="t" r="r" b="b"/>
            <a:pathLst>
              <a:path w="7923831" h="3382485">
                <a:moveTo>
                  <a:pt x="0" y="0"/>
                </a:moveTo>
                <a:lnTo>
                  <a:pt x="7923831" y="0"/>
                </a:lnTo>
                <a:lnTo>
                  <a:pt x="7923831" y="3382486"/>
                </a:lnTo>
                <a:lnTo>
                  <a:pt x="0" y="3382486"/>
                </a:lnTo>
                <a:lnTo>
                  <a:pt x="0" y="0"/>
                </a:lnTo>
                <a:close/>
              </a:path>
            </a:pathLst>
          </a:custGeom>
          <a:blipFill>
            <a:blip r:embed="rId5"/>
            <a:stretch>
              <a:fillRect/>
            </a:stretch>
          </a:blipFill>
        </p:spPr>
      </p:sp>
      <p:sp>
        <p:nvSpPr>
          <p:cNvPr id="8" name="Freeform 8"/>
          <p:cNvSpPr/>
          <p:nvPr/>
        </p:nvSpPr>
        <p:spPr>
          <a:xfrm>
            <a:off x="1964038" y="6223187"/>
            <a:ext cx="7923831" cy="3390870"/>
          </a:xfrm>
          <a:custGeom>
            <a:avLst/>
            <a:gdLst/>
            <a:ahLst/>
            <a:cxnLst/>
            <a:rect l="l" t="t" r="r" b="b"/>
            <a:pathLst>
              <a:path w="7923831" h="3390870">
                <a:moveTo>
                  <a:pt x="0" y="0"/>
                </a:moveTo>
                <a:lnTo>
                  <a:pt x="7923831" y="0"/>
                </a:lnTo>
                <a:lnTo>
                  <a:pt x="7923831" y="3390870"/>
                </a:lnTo>
                <a:lnTo>
                  <a:pt x="0" y="3390870"/>
                </a:lnTo>
                <a:lnTo>
                  <a:pt x="0" y="0"/>
                </a:lnTo>
                <a:close/>
              </a:path>
            </a:pathLst>
          </a:custGeom>
          <a:blipFill>
            <a:blip r:embed="rId6"/>
            <a:stretch>
              <a:fillRect t="-1409" b="-1409"/>
            </a:stretch>
          </a:blipFill>
        </p:spPr>
      </p:sp>
      <p:sp>
        <p:nvSpPr>
          <p:cNvPr id="9" name="TextBox 9"/>
          <p:cNvSpPr txBox="1"/>
          <p:nvPr/>
        </p:nvSpPr>
        <p:spPr>
          <a:xfrm>
            <a:off x="4539196" y="399943"/>
            <a:ext cx="9209608" cy="1543050"/>
          </a:xfrm>
          <a:prstGeom prst="rect">
            <a:avLst/>
          </a:prstGeom>
        </p:spPr>
        <p:txBody>
          <a:bodyPr lIns="0" tIns="0" rIns="0" bIns="0" rtlCol="0" anchor="t">
            <a:spAutoFit/>
          </a:bodyPr>
          <a:lstStyle/>
          <a:p>
            <a:pPr algn="ctr">
              <a:lnSpc>
                <a:spcPts val="12599"/>
              </a:lnSpc>
            </a:pPr>
            <a:r>
              <a:rPr lang="en-US" sz="9000">
                <a:solidFill>
                  <a:srgbClr val="161B1C"/>
                </a:solidFill>
                <a:latin typeface="Sego"/>
                <a:ea typeface="Sego"/>
                <a:cs typeface="Sego"/>
                <a:sym typeface="Sego"/>
              </a:rPr>
              <a:t>Output</a:t>
            </a:r>
          </a:p>
        </p:txBody>
      </p:sp>
      <p:sp>
        <p:nvSpPr>
          <p:cNvPr id="10" name="TextBox 10"/>
          <p:cNvSpPr txBox="1"/>
          <p:nvPr/>
        </p:nvSpPr>
        <p:spPr>
          <a:xfrm>
            <a:off x="1964038" y="1630573"/>
            <a:ext cx="1518999" cy="548640"/>
          </a:xfrm>
          <a:prstGeom prst="rect">
            <a:avLst/>
          </a:prstGeom>
        </p:spPr>
        <p:txBody>
          <a:bodyPr lIns="0" tIns="0" rIns="0" bIns="0" rtlCol="0" anchor="t">
            <a:spAutoFit/>
          </a:bodyPr>
          <a:lstStyle/>
          <a:p>
            <a:pPr algn="ctr">
              <a:lnSpc>
                <a:spcPts val="4409"/>
              </a:lnSpc>
              <a:spcBef>
                <a:spcPct val="0"/>
              </a:spcBef>
            </a:pPr>
            <a:r>
              <a:rPr lang="en-US" sz="3150">
                <a:solidFill>
                  <a:srgbClr val="161B1C"/>
                </a:solidFill>
                <a:latin typeface="Sego"/>
                <a:ea typeface="Sego"/>
                <a:cs typeface="Sego"/>
                <a:sym typeface="Sego"/>
              </a:rPr>
              <a:t>Students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flipV="1">
            <a:off x="-328064" y="5377270"/>
            <a:ext cx="4262923" cy="5120628"/>
          </a:xfrm>
          <a:custGeom>
            <a:avLst/>
            <a:gdLst/>
            <a:ahLst/>
            <a:cxnLst/>
            <a:rect l="l" t="t" r="r" b="b"/>
            <a:pathLst>
              <a:path w="4262923" h="5120628">
                <a:moveTo>
                  <a:pt x="0" y="5120628"/>
                </a:moveTo>
                <a:lnTo>
                  <a:pt x="4262923" y="5120628"/>
                </a:lnTo>
                <a:lnTo>
                  <a:pt x="4262923" y="0"/>
                </a:lnTo>
                <a:lnTo>
                  <a:pt x="0" y="0"/>
                </a:lnTo>
                <a:lnTo>
                  <a:pt x="0" y="5120628"/>
                </a:lnTo>
                <a:close/>
              </a:path>
            </a:pathLst>
          </a:custGeom>
          <a:blipFill>
            <a:blip r:embed="rId3"/>
            <a:stretch>
              <a:fillRect/>
            </a:stretch>
          </a:blipFill>
        </p:spPr>
      </p:sp>
      <p:sp>
        <p:nvSpPr>
          <p:cNvPr id="4" name="Freeform 4"/>
          <p:cNvSpPr/>
          <p:nvPr/>
        </p:nvSpPr>
        <p:spPr>
          <a:xfrm>
            <a:off x="-908719" y="7786423"/>
            <a:ext cx="16230600" cy="4037362"/>
          </a:xfrm>
          <a:custGeom>
            <a:avLst/>
            <a:gdLst/>
            <a:ahLst/>
            <a:cxnLst/>
            <a:rect l="l" t="t" r="r" b="b"/>
            <a:pathLst>
              <a:path w="16230600" h="4037362">
                <a:moveTo>
                  <a:pt x="0" y="0"/>
                </a:moveTo>
                <a:lnTo>
                  <a:pt x="16230600" y="0"/>
                </a:lnTo>
                <a:lnTo>
                  <a:pt x="16230600" y="4037362"/>
                </a:lnTo>
                <a:lnTo>
                  <a:pt x="0" y="4037362"/>
                </a:lnTo>
                <a:lnTo>
                  <a:pt x="0" y="0"/>
                </a:lnTo>
                <a:close/>
              </a:path>
            </a:pathLst>
          </a:custGeom>
          <a:blipFill>
            <a:blip r:embed="rId4"/>
            <a:stretch>
              <a:fillRect/>
            </a:stretch>
          </a:blipFill>
        </p:spPr>
      </p:sp>
      <p:sp>
        <p:nvSpPr>
          <p:cNvPr id="5" name="Freeform 5"/>
          <p:cNvSpPr/>
          <p:nvPr/>
        </p:nvSpPr>
        <p:spPr>
          <a:xfrm rot="-10800000">
            <a:off x="2905706" y="-1561569"/>
            <a:ext cx="16230600" cy="4037362"/>
          </a:xfrm>
          <a:custGeom>
            <a:avLst/>
            <a:gdLst/>
            <a:ahLst/>
            <a:cxnLst/>
            <a:rect l="l" t="t" r="r" b="b"/>
            <a:pathLst>
              <a:path w="16230600" h="4037362">
                <a:moveTo>
                  <a:pt x="0" y="0"/>
                </a:moveTo>
                <a:lnTo>
                  <a:pt x="16230600" y="0"/>
                </a:lnTo>
                <a:lnTo>
                  <a:pt x="16230600" y="4037361"/>
                </a:lnTo>
                <a:lnTo>
                  <a:pt x="0" y="4037361"/>
                </a:lnTo>
                <a:lnTo>
                  <a:pt x="0" y="0"/>
                </a:lnTo>
                <a:close/>
              </a:path>
            </a:pathLst>
          </a:custGeom>
          <a:blipFill>
            <a:blip r:embed="rId4"/>
            <a:stretch>
              <a:fillRect/>
            </a:stretch>
          </a:blipFill>
        </p:spPr>
      </p:sp>
      <p:sp>
        <p:nvSpPr>
          <p:cNvPr id="6" name="Freeform 6"/>
          <p:cNvSpPr/>
          <p:nvPr/>
        </p:nvSpPr>
        <p:spPr>
          <a:xfrm flipH="1">
            <a:off x="14260813" y="-84522"/>
            <a:ext cx="4262923" cy="5120628"/>
          </a:xfrm>
          <a:custGeom>
            <a:avLst/>
            <a:gdLst/>
            <a:ahLst/>
            <a:cxnLst/>
            <a:rect l="l" t="t" r="r" b="b"/>
            <a:pathLst>
              <a:path w="4262923" h="5120628">
                <a:moveTo>
                  <a:pt x="4262923" y="0"/>
                </a:moveTo>
                <a:lnTo>
                  <a:pt x="0" y="0"/>
                </a:lnTo>
                <a:lnTo>
                  <a:pt x="0" y="5120628"/>
                </a:lnTo>
                <a:lnTo>
                  <a:pt x="4262923" y="5120628"/>
                </a:lnTo>
                <a:lnTo>
                  <a:pt x="4262923" y="0"/>
                </a:lnTo>
                <a:close/>
              </a:path>
            </a:pathLst>
          </a:custGeom>
          <a:blipFill>
            <a:blip r:embed="rId3"/>
            <a:stretch>
              <a:fillRect/>
            </a:stretch>
          </a:blipFill>
        </p:spPr>
      </p:sp>
      <p:sp>
        <p:nvSpPr>
          <p:cNvPr id="7" name="TextBox 7"/>
          <p:cNvSpPr txBox="1"/>
          <p:nvPr/>
        </p:nvSpPr>
        <p:spPr>
          <a:xfrm>
            <a:off x="2069346" y="3453911"/>
            <a:ext cx="14149309" cy="3036279"/>
          </a:xfrm>
          <a:prstGeom prst="rect">
            <a:avLst/>
          </a:prstGeom>
        </p:spPr>
        <p:txBody>
          <a:bodyPr lIns="0" tIns="0" rIns="0" bIns="0" rtlCol="0" anchor="t">
            <a:spAutoFit/>
          </a:bodyPr>
          <a:lstStyle/>
          <a:p>
            <a:pPr algn="ctr">
              <a:lnSpc>
                <a:spcPts val="24796"/>
              </a:lnSpc>
            </a:pPr>
            <a:r>
              <a:rPr lang="en-US" sz="17711">
                <a:solidFill>
                  <a:srgbClr val="161B1C"/>
                </a:solidFill>
                <a:latin typeface="Sego"/>
                <a:ea typeface="Sego"/>
                <a:cs typeface="Sego"/>
                <a:sym typeface="Sego"/>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508</Words>
  <Application>Microsoft Office PowerPoint</Application>
  <PresentationFormat>Custom</PresentationFormat>
  <Paragraphs>61</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Nyutro Sans</vt:lpstr>
      <vt:lpstr>DM Sans</vt:lpstr>
      <vt:lpstr>Sego</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omput</dc:title>
  <dc:creator>Mukundhan MV</dc:creator>
  <cp:lastModifiedBy>Mukundhan MV</cp:lastModifiedBy>
  <cp:revision>3</cp:revision>
  <dcterms:created xsi:type="dcterms:W3CDTF">2006-08-16T00:00:00Z</dcterms:created>
  <dcterms:modified xsi:type="dcterms:W3CDTF">2026-10-12T15:07:26Z</dcterms:modified>
  <dc:identifier>DAHVMQ5Sc4o</dc:identifier>
</cp:coreProperties>
</file>