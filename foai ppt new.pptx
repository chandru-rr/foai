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DM Sans" panose="020F0502020204030204" pitchFamily="2" charset="0"/>
      <p:regular r:id="rId14"/>
    </p:embeddedFont>
    <p:embeddedFont>
      <p:font typeface="Nyutro Sans" panose="020B0604020202020204" charset="0"/>
      <p:regular r:id="rId15"/>
    </p:embeddedFont>
    <p:embeddedFont>
      <p:font typeface="Open Sans" panose="020F0502020204030204" pitchFamily="34" charset="0"/>
      <p:regular r:id="rId16"/>
    </p:embeddedFont>
    <p:embeddedFont>
      <p:font typeface="Sego"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flipV="1">
            <a:off x="-328064" y="5377270"/>
            <a:ext cx="4262923" cy="5120628"/>
          </a:xfrm>
          <a:custGeom>
            <a:avLst/>
            <a:gdLst/>
            <a:ahLst/>
            <a:cxnLst/>
            <a:rect l="l" t="t" r="r" b="b"/>
            <a:pathLst>
              <a:path w="4262923" h="5120628">
                <a:moveTo>
                  <a:pt x="0" y="5120628"/>
                </a:moveTo>
                <a:lnTo>
                  <a:pt x="4262923" y="5120628"/>
                </a:lnTo>
                <a:lnTo>
                  <a:pt x="4262923" y="0"/>
                </a:lnTo>
                <a:lnTo>
                  <a:pt x="0" y="0"/>
                </a:lnTo>
                <a:lnTo>
                  <a:pt x="0" y="5120628"/>
                </a:lnTo>
                <a:close/>
              </a:path>
            </a:pathLst>
          </a:custGeom>
          <a:blipFill>
            <a:blip r:embed="rId3"/>
            <a:stretch>
              <a:fillRect/>
            </a:stretch>
          </a:blipFill>
        </p:spPr>
      </p:sp>
      <p:sp>
        <p:nvSpPr>
          <p:cNvPr id="4" name="Freeform 4"/>
          <p:cNvSpPr/>
          <p:nvPr/>
        </p:nvSpPr>
        <p:spPr>
          <a:xfrm>
            <a:off x="396309" y="7677681"/>
            <a:ext cx="16230600" cy="4037362"/>
          </a:xfrm>
          <a:custGeom>
            <a:avLst/>
            <a:gdLst/>
            <a:ahLst/>
            <a:cxnLst/>
            <a:rect l="l" t="t" r="r" b="b"/>
            <a:pathLst>
              <a:path w="16230600" h="4037362">
                <a:moveTo>
                  <a:pt x="0" y="0"/>
                </a:moveTo>
                <a:lnTo>
                  <a:pt x="16230600" y="0"/>
                </a:lnTo>
                <a:lnTo>
                  <a:pt x="16230600" y="4037362"/>
                </a:lnTo>
                <a:lnTo>
                  <a:pt x="0" y="4037362"/>
                </a:lnTo>
                <a:lnTo>
                  <a:pt x="0" y="0"/>
                </a:lnTo>
                <a:close/>
              </a:path>
            </a:pathLst>
          </a:custGeom>
          <a:blipFill>
            <a:blip r:embed="rId4"/>
            <a:stretch>
              <a:fillRect/>
            </a:stretch>
          </a:blipFill>
        </p:spPr>
      </p:sp>
      <p:sp>
        <p:nvSpPr>
          <p:cNvPr id="5" name="Freeform 5"/>
          <p:cNvSpPr/>
          <p:nvPr/>
        </p:nvSpPr>
        <p:spPr>
          <a:xfrm flipH="1">
            <a:off x="14269592" y="-227049"/>
            <a:ext cx="4262923" cy="5120628"/>
          </a:xfrm>
          <a:custGeom>
            <a:avLst/>
            <a:gdLst/>
            <a:ahLst/>
            <a:cxnLst/>
            <a:rect l="l" t="t" r="r" b="b"/>
            <a:pathLst>
              <a:path w="4262923" h="5120628">
                <a:moveTo>
                  <a:pt x="4262922" y="0"/>
                </a:moveTo>
                <a:lnTo>
                  <a:pt x="0" y="0"/>
                </a:lnTo>
                <a:lnTo>
                  <a:pt x="0" y="5120628"/>
                </a:lnTo>
                <a:lnTo>
                  <a:pt x="4262922" y="5120628"/>
                </a:lnTo>
                <a:lnTo>
                  <a:pt x="4262922" y="0"/>
                </a:lnTo>
                <a:close/>
              </a:path>
            </a:pathLst>
          </a:custGeom>
          <a:blipFill>
            <a:blip r:embed="rId3"/>
            <a:stretch>
              <a:fillRect/>
            </a:stretch>
          </a:blipFill>
        </p:spPr>
      </p:sp>
      <p:sp>
        <p:nvSpPr>
          <p:cNvPr id="6" name="TextBox 6"/>
          <p:cNvSpPr txBox="1"/>
          <p:nvPr/>
        </p:nvSpPr>
        <p:spPr>
          <a:xfrm>
            <a:off x="9144000" y="8488512"/>
            <a:ext cx="10941040" cy="562940"/>
          </a:xfrm>
          <a:prstGeom prst="rect">
            <a:avLst/>
          </a:prstGeom>
        </p:spPr>
        <p:txBody>
          <a:bodyPr lIns="0" tIns="0" rIns="0" bIns="0" rtlCol="0" anchor="t">
            <a:spAutoFit/>
          </a:bodyPr>
          <a:lstStyle/>
          <a:p>
            <a:pPr algn="ctr">
              <a:lnSpc>
                <a:spcPts val="4146"/>
              </a:lnSpc>
            </a:pPr>
            <a:r>
              <a:rPr lang="en-US" sz="2961">
                <a:solidFill>
                  <a:srgbClr val="161B1C"/>
                </a:solidFill>
                <a:latin typeface="Nyutro Sans"/>
                <a:ea typeface="Nyutro Sans"/>
                <a:cs typeface="Nyutro Sans"/>
                <a:sym typeface="Nyutro Sans"/>
              </a:rPr>
              <a:t>BY</a:t>
            </a:r>
          </a:p>
        </p:txBody>
      </p:sp>
      <p:sp>
        <p:nvSpPr>
          <p:cNvPr id="7" name="TextBox 7"/>
          <p:cNvSpPr txBox="1"/>
          <p:nvPr/>
        </p:nvSpPr>
        <p:spPr>
          <a:xfrm>
            <a:off x="2251744" y="2288062"/>
            <a:ext cx="14149309" cy="5770811"/>
          </a:xfrm>
          <a:prstGeom prst="rect">
            <a:avLst/>
          </a:prstGeom>
        </p:spPr>
        <p:txBody>
          <a:bodyPr lIns="0" tIns="0" rIns="0" bIns="0" rtlCol="0" anchor="t">
            <a:spAutoFit/>
          </a:bodyPr>
          <a:lstStyle/>
          <a:p>
            <a:pPr algn="ctr">
              <a:lnSpc>
                <a:spcPts val="8839"/>
              </a:lnSpc>
            </a:pPr>
            <a:endParaRPr dirty="0"/>
          </a:p>
          <a:p>
            <a:pPr algn="ctr">
              <a:lnSpc>
                <a:spcPts val="8839"/>
              </a:lnSpc>
            </a:pPr>
            <a:r>
              <a:rPr lang="en-US" sz="6314" dirty="0">
                <a:solidFill>
                  <a:srgbClr val="161B1C"/>
                </a:solidFill>
                <a:latin typeface="Sego"/>
                <a:ea typeface="Sego"/>
                <a:cs typeface="Sego"/>
                <a:sym typeface="Sego"/>
              </a:rPr>
              <a:t>Smart Hackathon Team Formation System</a:t>
            </a:r>
          </a:p>
          <a:p>
            <a:pPr algn="ctr">
              <a:lnSpc>
                <a:spcPts val="24796"/>
              </a:lnSpc>
            </a:pPr>
            <a:endParaRPr lang="en-US" sz="6314" dirty="0">
              <a:solidFill>
                <a:srgbClr val="161B1C"/>
              </a:solidFill>
              <a:latin typeface="Sego"/>
              <a:ea typeface="Sego"/>
              <a:cs typeface="Sego"/>
              <a:sym typeface="Sego"/>
            </a:endParaRPr>
          </a:p>
        </p:txBody>
      </p:sp>
      <p:sp>
        <p:nvSpPr>
          <p:cNvPr id="8" name="TextBox 8"/>
          <p:cNvSpPr txBox="1"/>
          <p:nvPr/>
        </p:nvSpPr>
        <p:spPr>
          <a:xfrm>
            <a:off x="6999883" y="188606"/>
            <a:ext cx="4288234" cy="546183"/>
          </a:xfrm>
          <a:prstGeom prst="rect">
            <a:avLst/>
          </a:prstGeom>
        </p:spPr>
        <p:txBody>
          <a:bodyPr lIns="0" tIns="0" rIns="0" bIns="0" rtlCol="0" anchor="t">
            <a:spAutoFit/>
          </a:bodyPr>
          <a:lstStyle/>
          <a:p>
            <a:pPr algn="ctr">
              <a:lnSpc>
                <a:spcPts val="4545"/>
              </a:lnSpc>
            </a:pPr>
            <a:r>
              <a:rPr lang="en-US" sz="3246">
                <a:solidFill>
                  <a:srgbClr val="161B1C"/>
                </a:solidFill>
                <a:latin typeface="DM Sans"/>
                <a:ea typeface="DM Sans"/>
                <a:cs typeface="DM Sans"/>
                <a:sym typeface="DM Sans"/>
              </a:rPr>
              <a:t>Foundation of AI</a:t>
            </a:r>
          </a:p>
        </p:txBody>
      </p:sp>
      <p:sp>
        <p:nvSpPr>
          <p:cNvPr id="9" name="TextBox 9"/>
          <p:cNvSpPr txBox="1"/>
          <p:nvPr/>
        </p:nvSpPr>
        <p:spPr>
          <a:xfrm>
            <a:off x="8754531" y="9003828"/>
            <a:ext cx="14149309" cy="772435"/>
          </a:xfrm>
          <a:prstGeom prst="rect">
            <a:avLst/>
          </a:prstGeom>
        </p:spPr>
        <p:txBody>
          <a:bodyPr lIns="0" tIns="0" rIns="0" bIns="0" rtlCol="0" anchor="t">
            <a:spAutoFit/>
          </a:bodyPr>
          <a:lstStyle/>
          <a:p>
            <a:pPr algn="ctr">
              <a:lnSpc>
                <a:spcPts val="3099"/>
              </a:lnSpc>
            </a:pPr>
            <a:r>
              <a:rPr lang="en-US" sz="2214">
                <a:solidFill>
                  <a:srgbClr val="161B1C"/>
                </a:solidFill>
                <a:latin typeface="Sego"/>
                <a:ea typeface="Sego"/>
                <a:cs typeface="Sego"/>
                <a:sym typeface="Sego"/>
              </a:rPr>
              <a:t>MUKUNDHAN MV</a:t>
            </a:r>
          </a:p>
          <a:p>
            <a:pPr algn="just">
              <a:lnSpc>
                <a:spcPts val="3099"/>
              </a:lnSpc>
              <a:spcBef>
                <a:spcPct val="0"/>
              </a:spcBef>
            </a:pPr>
            <a:r>
              <a:rPr lang="en-US" sz="2214">
                <a:solidFill>
                  <a:srgbClr val="161B1C"/>
                </a:solidFill>
                <a:latin typeface="Sego"/>
                <a:ea typeface="Sego"/>
                <a:cs typeface="Sego"/>
                <a:sym typeface="Sego"/>
              </a:rPr>
              <a:t>                                                                                     CHANDRU RR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TextBox 7"/>
          <p:cNvSpPr txBox="1"/>
          <p:nvPr/>
        </p:nvSpPr>
        <p:spPr>
          <a:xfrm>
            <a:off x="1802959" y="3556514"/>
            <a:ext cx="14686086" cy="5440553"/>
          </a:xfrm>
          <a:prstGeom prst="rect">
            <a:avLst/>
          </a:prstGeom>
        </p:spPr>
        <p:txBody>
          <a:bodyPr lIns="0" tIns="0" rIns="0" bIns="0" rtlCol="0" anchor="t">
            <a:spAutoFit/>
          </a:bodyPr>
          <a:lstStyle/>
          <a:p>
            <a:pPr algn="ctr">
              <a:lnSpc>
                <a:spcPts val="4681"/>
              </a:lnSpc>
            </a:pPr>
            <a:endParaRPr/>
          </a:p>
          <a:p>
            <a:pPr algn="just">
              <a:lnSpc>
                <a:spcPts val="5586"/>
              </a:lnSpc>
            </a:pPr>
            <a:r>
              <a:rPr lang="en-US" sz="3699">
                <a:solidFill>
                  <a:srgbClr val="161B1C"/>
                </a:solidFill>
                <a:latin typeface="Nyutro Sans"/>
                <a:ea typeface="Nyutro Sans"/>
                <a:cs typeface="Nyutro Sans"/>
                <a:sym typeface="Nyutro Sans"/>
              </a:rPr>
              <a:t>A smart hackathon platform that helps students form teams, discover incomplete teams, send join or merge requests, and register for hackathons. Organizers can create and manage hackathons, define participation rules, and monitor teams. The platform provides centralized and reliable management of hackathon activities, with AI-based team matching planned as a future enhancement.</a:t>
            </a:r>
          </a:p>
          <a:p>
            <a:pPr algn="ctr">
              <a:lnSpc>
                <a:spcPts val="4681"/>
              </a:lnSpc>
            </a:pPr>
            <a:endParaRPr lang="en-US" sz="3699">
              <a:solidFill>
                <a:srgbClr val="161B1C"/>
              </a:solidFill>
              <a:latin typeface="Nyutro Sans"/>
              <a:ea typeface="Nyutro Sans"/>
              <a:cs typeface="Nyutro Sans"/>
              <a:sym typeface="Nyutro Sans"/>
            </a:endParaRPr>
          </a:p>
        </p:txBody>
      </p:sp>
      <p:sp>
        <p:nvSpPr>
          <p:cNvPr id="8" name="TextBox 8"/>
          <p:cNvSpPr txBox="1"/>
          <p:nvPr/>
        </p:nvSpPr>
        <p:spPr>
          <a:xfrm>
            <a:off x="4539196" y="1720299"/>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Abstract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grpSp>
        <p:nvGrpSpPr>
          <p:cNvPr id="7" name="Group 7"/>
          <p:cNvGrpSpPr/>
          <p:nvPr/>
        </p:nvGrpSpPr>
        <p:grpSpPr>
          <a:xfrm>
            <a:off x="1267933" y="1202688"/>
            <a:ext cx="16230600" cy="8229600"/>
            <a:chOff x="0" y="0"/>
            <a:chExt cx="4274726" cy="2167467"/>
          </a:xfrm>
        </p:grpSpPr>
        <p:sp>
          <p:nvSpPr>
            <p:cNvPr id="8" name="Freeform 8"/>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id="9" name="TextBox 9"/>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2747260" y="3110949"/>
            <a:ext cx="13315559" cy="5749290"/>
          </a:xfrm>
          <a:prstGeom prst="rect">
            <a:avLst/>
          </a:prstGeom>
        </p:spPr>
        <p:txBody>
          <a:bodyPr lIns="0" tIns="0" rIns="0" bIns="0" rtlCol="0" anchor="t">
            <a:spAutoFit/>
          </a:bodyPr>
          <a:lstStyle/>
          <a:p>
            <a:pPr algn="just">
              <a:lnSpc>
                <a:spcPts val="4530"/>
              </a:lnSpc>
            </a:pPr>
            <a:endParaRPr/>
          </a:p>
          <a:p>
            <a:pPr algn="just">
              <a:lnSpc>
                <a:spcPts val="4530"/>
              </a:lnSpc>
            </a:pPr>
            <a:r>
              <a:rPr lang="en-US" sz="3000">
                <a:solidFill>
                  <a:srgbClr val="161B1C"/>
                </a:solidFill>
                <a:latin typeface="Nyutro Sans"/>
                <a:ea typeface="Nyutro Sans"/>
                <a:cs typeface="Nyutro Sans"/>
                <a:sym typeface="Nyutro Sans"/>
              </a:rPr>
              <a:t>Students often face difficulty in finding suitable teammates and forming complete teams for hackathons. Existing methods rely on manual communication and do not provide an organized way to discover incomplete teams, join teams, merge partial teams, and manage registrations.</a:t>
            </a:r>
          </a:p>
          <a:p>
            <a:pPr algn="just">
              <a:lnSpc>
                <a:spcPts val="4530"/>
              </a:lnSpc>
            </a:pPr>
            <a:r>
              <a:rPr lang="en-US" sz="3000">
                <a:solidFill>
                  <a:srgbClr val="161B1C"/>
                </a:solidFill>
                <a:latin typeface="Nyutro Sans"/>
                <a:ea typeface="Nyutro Sans"/>
                <a:cs typeface="Nyutro Sans"/>
                <a:sym typeface="Nyutro Sans"/>
              </a:rPr>
              <a:t>Organizers also need an efficient system to create hackathons, define rules, manage teams, and monitor participation. Therefore, there is a need for a centralized platform that simplifies hackathon management and team formation.</a:t>
            </a:r>
          </a:p>
          <a:p>
            <a:pPr algn="just">
              <a:lnSpc>
                <a:spcPts val="4530"/>
              </a:lnSpc>
            </a:pPr>
            <a:endParaRPr lang="en-US" sz="3000">
              <a:solidFill>
                <a:srgbClr val="161B1C"/>
              </a:solidFill>
              <a:latin typeface="Nyutro Sans"/>
              <a:ea typeface="Nyutro Sans"/>
              <a:cs typeface="Nyutro Sans"/>
              <a:sym typeface="Nyutro Sans"/>
            </a:endParaRPr>
          </a:p>
        </p:txBody>
      </p:sp>
      <p:sp>
        <p:nvSpPr>
          <p:cNvPr id="11" name="TextBox 11"/>
          <p:cNvSpPr txBox="1"/>
          <p:nvPr/>
        </p:nvSpPr>
        <p:spPr>
          <a:xfrm>
            <a:off x="4539196" y="1720299"/>
            <a:ext cx="10775612"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Problem Statement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grpSp>
        <p:nvGrpSpPr>
          <p:cNvPr id="7" name="Group 7"/>
          <p:cNvGrpSpPr/>
          <p:nvPr/>
        </p:nvGrpSpPr>
        <p:grpSpPr>
          <a:xfrm>
            <a:off x="1028700" y="1028700"/>
            <a:ext cx="16230600" cy="8229600"/>
            <a:chOff x="0" y="0"/>
            <a:chExt cx="4274726" cy="2167467"/>
          </a:xfrm>
        </p:grpSpPr>
        <p:sp>
          <p:nvSpPr>
            <p:cNvPr id="8" name="Freeform 8"/>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id="9" name="TextBox 9"/>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3670959" y="6639761"/>
            <a:ext cx="283620" cy="28362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D869A"/>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4669687" y="1121483"/>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Literature Survey</a:t>
            </a:r>
          </a:p>
        </p:txBody>
      </p:sp>
      <p:sp>
        <p:nvSpPr>
          <p:cNvPr id="14" name="TextBox 14"/>
          <p:cNvSpPr txBox="1"/>
          <p:nvPr/>
        </p:nvSpPr>
        <p:spPr>
          <a:xfrm>
            <a:off x="4184565" y="6488397"/>
            <a:ext cx="11448763" cy="1802003"/>
          </a:xfrm>
          <a:prstGeom prst="rect">
            <a:avLst/>
          </a:prstGeom>
        </p:spPr>
        <p:txBody>
          <a:bodyPr lIns="0" tIns="0" rIns="0" bIns="0" rtlCol="0" anchor="t">
            <a:spAutoFit/>
          </a:bodyPr>
          <a:lstStyle/>
          <a:p>
            <a:pPr algn="just">
              <a:lnSpc>
                <a:spcPts val="4681"/>
              </a:lnSpc>
            </a:pPr>
            <a:r>
              <a:rPr lang="en-US" sz="3100">
                <a:solidFill>
                  <a:srgbClr val="161B1C"/>
                </a:solidFill>
                <a:latin typeface="Nyutro Sans"/>
                <a:ea typeface="Nyutro Sans"/>
                <a:cs typeface="Nyutro Sans"/>
                <a:sym typeface="Nyutro Sans"/>
              </a:rPr>
              <a:t>Existing approaches generally do not provide a unified process for incomplete-team discovery, join requests, team merging, and hackathon registration.</a:t>
            </a:r>
          </a:p>
        </p:txBody>
      </p:sp>
      <p:sp>
        <p:nvSpPr>
          <p:cNvPr id="15" name="TextBox 15"/>
          <p:cNvSpPr txBox="1"/>
          <p:nvPr/>
        </p:nvSpPr>
        <p:spPr>
          <a:xfrm>
            <a:off x="4230601" y="3171201"/>
            <a:ext cx="11448763" cy="1211453"/>
          </a:xfrm>
          <a:prstGeom prst="rect">
            <a:avLst/>
          </a:prstGeom>
        </p:spPr>
        <p:txBody>
          <a:bodyPr lIns="0" tIns="0" rIns="0" bIns="0" rtlCol="0" anchor="t">
            <a:spAutoFit/>
          </a:bodyPr>
          <a:lstStyle/>
          <a:p>
            <a:pPr algn="just">
              <a:lnSpc>
                <a:spcPts val="4681"/>
              </a:lnSpc>
            </a:pPr>
            <a:r>
              <a:rPr lang="en-US" sz="3100">
                <a:solidFill>
                  <a:srgbClr val="161B1C"/>
                </a:solidFill>
                <a:latin typeface="Nyutro Sans"/>
                <a:ea typeface="Nyutro Sans"/>
                <a:cs typeface="Nyutro Sans"/>
                <a:sym typeface="Nyutro Sans"/>
              </a:rPr>
              <a:t>Existing hackathon platforms mainly focus on event creation, participant registration, and project submission.</a:t>
            </a:r>
          </a:p>
        </p:txBody>
      </p:sp>
      <p:grpSp>
        <p:nvGrpSpPr>
          <p:cNvPr id="16" name="Group 16"/>
          <p:cNvGrpSpPr/>
          <p:nvPr/>
        </p:nvGrpSpPr>
        <p:grpSpPr>
          <a:xfrm>
            <a:off x="3670959" y="3431192"/>
            <a:ext cx="283620" cy="28362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D869A"/>
            </a:solidFill>
          </p:spPr>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4184565" y="4533994"/>
            <a:ext cx="11448763" cy="1802003"/>
          </a:xfrm>
          <a:prstGeom prst="rect">
            <a:avLst/>
          </a:prstGeom>
        </p:spPr>
        <p:txBody>
          <a:bodyPr lIns="0" tIns="0" rIns="0" bIns="0" rtlCol="0" anchor="t">
            <a:spAutoFit/>
          </a:bodyPr>
          <a:lstStyle/>
          <a:p>
            <a:pPr algn="just">
              <a:lnSpc>
                <a:spcPts val="4681"/>
              </a:lnSpc>
            </a:pPr>
            <a:r>
              <a:rPr lang="en-US" sz="3100">
                <a:solidFill>
                  <a:srgbClr val="161B1C"/>
                </a:solidFill>
                <a:latin typeface="Nyutro Sans"/>
                <a:ea typeface="Nyutro Sans"/>
                <a:cs typeface="Nyutro Sans"/>
                <a:sym typeface="Nyutro Sans"/>
              </a:rPr>
              <a:t>Collaboration platforms provide communication and group management but are not specifically designed for hackathon team formation.</a:t>
            </a:r>
          </a:p>
        </p:txBody>
      </p:sp>
      <p:grpSp>
        <p:nvGrpSpPr>
          <p:cNvPr id="20" name="Group 20"/>
          <p:cNvGrpSpPr/>
          <p:nvPr/>
        </p:nvGrpSpPr>
        <p:grpSpPr>
          <a:xfrm>
            <a:off x="3670959" y="4798994"/>
            <a:ext cx="283620" cy="28362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D869A"/>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grpSp>
        <p:nvGrpSpPr>
          <p:cNvPr id="7" name="Group 7"/>
          <p:cNvGrpSpPr/>
          <p:nvPr/>
        </p:nvGrpSpPr>
        <p:grpSpPr>
          <a:xfrm>
            <a:off x="1028700" y="1028700"/>
            <a:ext cx="16230600" cy="8229600"/>
            <a:chOff x="0" y="0"/>
            <a:chExt cx="4274726" cy="2167467"/>
          </a:xfrm>
        </p:grpSpPr>
        <p:sp>
          <p:nvSpPr>
            <p:cNvPr id="8" name="Freeform 8"/>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F2F4F2"/>
            </a:solidFill>
            <a:ln w="19050" cap="sq">
              <a:solidFill>
                <a:srgbClr val="6D869A"/>
              </a:solidFill>
              <a:prstDash val="solid"/>
              <a:miter/>
            </a:ln>
          </p:spPr>
        </p:sp>
        <p:sp>
          <p:nvSpPr>
            <p:cNvPr id="9" name="TextBox 9"/>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2066437" y="2828474"/>
            <a:ext cx="14202870" cy="6033533"/>
          </a:xfrm>
          <a:prstGeom prst="rect">
            <a:avLst/>
          </a:prstGeom>
        </p:spPr>
        <p:txBody>
          <a:bodyPr lIns="0" tIns="0" rIns="0" bIns="0" rtlCol="0" anchor="t">
            <a:spAutoFit/>
          </a:bodyPr>
          <a:lstStyle/>
          <a:p>
            <a:pPr marL="679491" lvl="1" indent="-339746" algn="just">
              <a:lnSpc>
                <a:spcPts val="4752"/>
              </a:lnSpc>
              <a:buFont typeface="Arial"/>
              <a:buChar char="•"/>
            </a:pPr>
            <a:r>
              <a:rPr lang="en-US" sz="3147">
                <a:solidFill>
                  <a:srgbClr val="161B1C"/>
                </a:solidFill>
                <a:latin typeface="Nyutro Sans"/>
                <a:ea typeface="Nyutro Sans"/>
                <a:cs typeface="Nyutro Sans"/>
                <a:sym typeface="Nyutro Sans"/>
              </a:rPr>
              <a:t>Existing systems mainly focus on hackathon management or skill-based team matching.</a:t>
            </a:r>
          </a:p>
          <a:p>
            <a:pPr marL="679491" lvl="1" indent="-339746" algn="just">
              <a:lnSpc>
                <a:spcPts val="4752"/>
              </a:lnSpc>
              <a:buFont typeface="Arial"/>
              <a:buChar char="•"/>
            </a:pPr>
            <a:r>
              <a:rPr lang="en-US" sz="3147">
                <a:solidFill>
                  <a:srgbClr val="161B1C"/>
                </a:solidFill>
                <a:latin typeface="Nyutro Sans"/>
                <a:ea typeface="Nyutro Sans"/>
                <a:cs typeface="Nyutro Sans"/>
                <a:sym typeface="Nyutro Sans"/>
              </a:rPr>
              <a:t>Limited support is available for finding incomplete teams without restrictive filters.</a:t>
            </a:r>
          </a:p>
          <a:p>
            <a:pPr marL="679491" lvl="1" indent="-339746" algn="just">
              <a:lnSpc>
                <a:spcPts val="4752"/>
              </a:lnSpc>
              <a:buFont typeface="Arial"/>
              <a:buChar char="•"/>
            </a:pPr>
            <a:r>
              <a:rPr lang="en-US" sz="3147">
                <a:solidFill>
                  <a:srgbClr val="161B1C"/>
                </a:solidFill>
                <a:latin typeface="Nyutro Sans"/>
                <a:ea typeface="Nyutro Sans"/>
                <a:cs typeface="Nyutro Sans"/>
                <a:sym typeface="Nyutro Sans"/>
              </a:rPr>
              <a:t>Existing platforms often lack join and merge mechanisms for partial teams.</a:t>
            </a:r>
          </a:p>
          <a:p>
            <a:pPr marL="679491" lvl="1" indent="-339746" algn="just">
              <a:lnSpc>
                <a:spcPts val="4752"/>
              </a:lnSpc>
              <a:buFont typeface="Arial"/>
              <a:buChar char="•"/>
            </a:pPr>
            <a:r>
              <a:rPr lang="en-US" sz="3147">
                <a:solidFill>
                  <a:srgbClr val="161B1C"/>
                </a:solidFill>
                <a:latin typeface="Nyutro Sans"/>
                <a:ea typeface="Nyutro Sans"/>
                <a:cs typeface="Nyutro Sans"/>
                <a:sym typeface="Nyutro Sans"/>
              </a:rPr>
              <a:t>There is no unified workflow combining hackathon creation, flexible team formation, team joining/merging, and registration.</a:t>
            </a:r>
          </a:p>
          <a:p>
            <a:pPr marL="679491" lvl="1" indent="-339746" algn="just">
              <a:lnSpc>
                <a:spcPts val="4752"/>
              </a:lnSpc>
              <a:buFont typeface="Arial"/>
              <a:buChar char="•"/>
            </a:pPr>
            <a:r>
              <a:rPr lang="en-US" sz="3147">
                <a:solidFill>
                  <a:srgbClr val="161B1C"/>
                </a:solidFill>
                <a:latin typeface="Nyutro Sans"/>
                <a:ea typeface="Nyutro Sans"/>
                <a:cs typeface="Nyutro Sans"/>
                <a:sym typeface="Nyutro Sans"/>
              </a:rPr>
              <a:t>Therefore, a centralized platform is needed to provide a simple and flexible team formation process for hackathon participants.</a:t>
            </a:r>
          </a:p>
          <a:p>
            <a:pPr algn="just">
              <a:lnSpc>
                <a:spcPts val="4752"/>
              </a:lnSpc>
            </a:pPr>
            <a:endParaRPr lang="en-US" sz="3147">
              <a:solidFill>
                <a:srgbClr val="161B1C"/>
              </a:solidFill>
              <a:latin typeface="Nyutro Sans"/>
              <a:ea typeface="Nyutro Sans"/>
              <a:cs typeface="Nyutro Sans"/>
              <a:sym typeface="Nyutro Sans"/>
            </a:endParaRPr>
          </a:p>
        </p:txBody>
      </p:sp>
      <p:sp>
        <p:nvSpPr>
          <p:cNvPr id="11" name="TextBox 11"/>
          <p:cNvSpPr txBox="1"/>
          <p:nvPr/>
        </p:nvSpPr>
        <p:spPr>
          <a:xfrm>
            <a:off x="4669687" y="817005"/>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Research Gap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TextBox 7"/>
          <p:cNvSpPr txBox="1"/>
          <p:nvPr/>
        </p:nvSpPr>
        <p:spPr>
          <a:xfrm>
            <a:off x="2700315" y="2424778"/>
            <a:ext cx="12887369" cy="7707503"/>
          </a:xfrm>
          <a:prstGeom prst="rect">
            <a:avLst/>
          </a:prstGeom>
        </p:spPr>
        <p:txBody>
          <a:bodyPr lIns="0" tIns="0" rIns="0" bIns="0" rtlCol="0" anchor="t">
            <a:spAutoFit/>
          </a:bodyPr>
          <a:lstStyle/>
          <a:p>
            <a:pPr algn="ctr">
              <a:lnSpc>
                <a:spcPts val="4681"/>
              </a:lnSpc>
            </a:pPr>
            <a:endParaRPr/>
          </a:p>
          <a:p>
            <a:pPr marL="669291" lvl="1" indent="-334646" algn="just">
              <a:lnSpc>
                <a:spcPts val="4681"/>
              </a:lnSpc>
              <a:buFont typeface="Arial"/>
              <a:buChar char="•"/>
            </a:pPr>
            <a:r>
              <a:rPr lang="en-US" sz="3100">
                <a:solidFill>
                  <a:srgbClr val="161B1C"/>
                </a:solidFill>
                <a:latin typeface="Nyutro Sans"/>
                <a:ea typeface="Nyutro Sans"/>
                <a:cs typeface="Nyutro Sans"/>
                <a:sym typeface="Nyutro Sans"/>
              </a:rPr>
              <a:t>To develop a centralized platform for managing hackathons and participants.</a:t>
            </a:r>
          </a:p>
          <a:p>
            <a:pPr marL="669291" lvl="1" indent="-334646" algn="just">
              <a:lnSpc>
                <a:spcPts val="4681"/>
              </a:lnSpc>
              <a:buFont typeface="Arial"/>
              <a:buChar char="•"/>
            </a:pPr>
            <a:r>
              <a:rPr lang="en-US" sz="3100">
                <a:solidFill>
                  <a:srgbClr val="161B1C"/>
                </a:solidFill>
                <a:latin typeface="Nyutro Sans"/>
                <a:ea typeface="Nyutro Sans"/>
                <a:cs typeface="Nyutro Sans"/>
                <a:sym typeface="Nyutro Sans"/>
              </a:rPr>
              <a:t>To provide students with flexible options for individual, partial-team, and full-team registration.</a:t>
            </a:r>
          </a:p>
          <a:p>
            <a:pPr marL="669291" lvl="1" indent="-334646" algn="just">
              <a:lnSpc>
                <a:spcPts val="4681"/>
              </a:lnSpc>
              <a:buFont typeface="Arial"/>
              <a:buChar char="•"/>
            </a:pPr>
            <a:r>
              <a:rPr lang="en-US" sz="3100">
                <a:solidFill>
                  <a:srgbClr val="161B1C"/>
                </a:solidFill>
                <a:latin typeface="Nyutro Sans"/>
                <a:ea typeface="Nyutro Sans"/>
                <a:cs typeface="Nyutro Sans"/>
                <a:sym typeface="Nyutro Sans"/>
              </a:rPr>
              <a:t>To enable students to discover incomplete teams and connect with other participants.</a:t>
            </a:r>
          </a:p>
          <a:p>
            <a:pPr marL="669291" lvl="1" indent="-334646" algn="just">
              <a:lnSpc>
                <a:spcPts val="4681"/>
              </a:lnSpc>
              <a:buFont typeface="Arial"/>
              <a:buChar char="•"/>
            </a:pPr>
            <a:r>
              <a:rPr lang="en-US" sz="3100">
                <a:solidFill>
                  <a:srgbClr val="161B1C"/>
                </a:solidFill>
                <a:latin typeface="Nyutro Sans"/>
                <a:ea typeface="Nyutro Sans"/>
                <a:cs typeface="Nyutro Sans"/>
                <a:sym typeface="Nyutro Sans"/>
              </a:rPr>
              <a:t>To support join and merge requests for completing partial teams.</a:t>
            </a:r>
          </a:p>
          <a:p>
            <a:pPr marL="669291" lvl="1" indent="-334646" algn="just">
              <a:lnSpc>
                <a:spcPts val="4681"/>
              </a:lnSpc>
              <a:buFont typeface="Arial"/>
              <a:buChar char="•"/>
            </a:pPr>
            <a:r>
              <a:rPr lang="en-US" sz="3100">
                <a:solidFill>
                  <a:srgbClr val="161B1C"/>
                </a:solidFill>
                <a:latin typeface="Nyutro Sans"/>
                <a:ea typeface="Nyutro Sans"/>
                <a:cs typeface="Nyutro Sans"/>
                <a:sym typeface="Nyutro Sans"/>
              </a:rPr>
              <a:t>To help organizers create hackathons, define rules, and manage participation efficiently.</a:t>
            </a:r>
          </a:p>
          <a:p>
            <a:pPr marL="669291" lvl="1" indent="-334646" algn="just">
              <a:lnSpc>
                <a:spcPts val="4681"/>
              </a:lnSpc>
              <a:buFont typeface="Arial"/>
              <a:buChar char="•"/>
            </a:pPr>
            <a:r>
              <a:rPr lang="en-US" sz="3100">
                <a:solidFill>
                  <a:srgbClr val="161B1C"/>
                </a:solidFill>
                <a:latin typeface="Nyutro Sans"/>
                <a:ea typeface="Nyutro Sans"/>
                <a:cs typeface="Nyutro Sans"/>
                <a:sym typeface="Nyutro Sans"/>
              </a:rPr>
              <a:t>To provide a reliable system for managing team formation and hackathon registration.</a:t>
            </a:r>
          </a:p>
          <a:p>
            <a:pPr algn="ctr">
              <a:lnSpc>
                <a:spcPts val="4681"/>
              </a:lnSpc>
            </a:pPr>
            <a:endParaRPr lang="en-US" sz="3100">
              <a:solidFill>
                <a:srgbClr val="161B1C"/>
              </a:solidFill>
              <a:latin typeface="Nyutro Sans"/>
              <a:ea typeface="Nyutro Sans"/>
              <a:cs typeface="Nyutro Sans"/>
              <a:sym typeface="Nyutro Sans"/>
            </a:endParaRPr>
          </a:p>
        </p:txBody>
      </p:sp>
      <p:sp>
        <p:nvSpPr>
          <p:cNvPr id="8" name="TextBox 8"/>
          <p:cNvSpPr txBox="1"/>
          <p:nvPr/>
        </p:nvSpPr>
        <p:spPr>
          <a:xfrm>
            <a:off x="3625761" y="857250"/>
            <a:ext cx="11427950"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Reasearch objective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Freeform 7"/>
          <p:cNvSpPr/>
          <p:nvPr/>
        </p:nvSpPr>
        <p:spPr>
          <a:xfrm>
            <a:off x="3005026" y="2160484"/>
            <a:ext cx="12869160" cy="7097816"/>
          </a:xfrm>
          <a:custGeom>
            <a:avLst/>
            <a:gdLst/>
            <a:ahLst/>
            <a:cxnLst/>
            <a:rect l="l" t="t" r="r" b="b"/>
            <a:pathLst>
              <a:path w="12869160" h="7097816">
                <a:moveTo>
                  <a:pt x="0" y="0"/>
                </a:moveTo>
                <a:lnTo>
                  <a:pt x="12869160" y="0"/>
                </a:lnTo>
                <a:lnTo>
                  <a:pt x="12869160" y="7097816"/>
                </a:lnTo>
                <a:lnTo>
                  <a:pt x="0" y="7097816"/>
                </a:lnTo>
                <a:lnTo>
                  <a:pt x="0" y="0"/>
                </a:lnTo>
                <a:close/>
              </a:path>
            </a:pathLst>
          </a:custGeom>
          <a:blipFill>
            <a:blip r:embed="rId5"/>
            <a:stretch>
              <a:fillRect t="-598" b="-598"/>
            </a:stretch>
          </a:blipFill>
        </p:spPr>
      </p:sp>
      <p:sp>
        <p:nvSpPr>
          <p:cNvPr id="8" name="TextBox 8"/>
          <p:cNvSpPr txBox="1"/>
          <p:nvPr/>
        </p:nvSpPr>
        <p:spPr>
          <a:xfrm>
            <a:off x="3399404" y="171450"/>
            <a:ext cx="12080403"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Architecture Diagram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TextBox 7"/>
          <p:cNvSpPr txBox="1"/>
          <p:nvPr/>
        </p:nvSpPr>
        <p:spPr>
          <a:xfrm>
            <a:off x="4669687" y="583031"/>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Tech Stack</a:t>
            </a:r>
          </a:p>
        </p:txBody>
      </p:sp>
      <p:sp>
        <p:nvSpPr>
          <p:cNvPr id="8" name="TextBox 8"/>
          <p:cNvSpPr txBox="1"/>
          <p:nvPr/>
        </p:nvSpPr>
        <p:spPr>
          <a:xfrm>
            <a:off x="1681308" y="2151560"/>
            <a:ext cx="5922169" cy="2785733"/>
          </a:xfrm>
          <a:prstGeom prst="rect">
            <a:avLst/>
          </a:prstGeom>
        </p:spPr>
        <p:txBody>
          <a:bodyPr lIns="0" tIns="0" rIns="0" bIns="0" rtlCol="0" anchor="t">
            <a:spAutoFit/>
          </a:bodyPr>
          <a:lstStyle/>
          <a:p>
            <a:pPr algn="ctr">
              <a:lnSpc>
                <a:spcPts val="4480"/>
              </a:lnSpc>
              <a:spcBef>
                <a:spcPct val="0"/>
              </a:spcBef>
            </a:pPr>
            <a:r>
              <a:rPr lang="en-US" sz="3200">
                <a:solidFill>
                  <a:srgbClr val="161B1C"/>
                </a:solidFill>
                <a:latin typeface="Open Sans"/>
                <a:ea typeface="Open Sans"/>
                <a:cs typeface="Open Sans"/>
                <a:sym typeface="Open Sans"/>
              </a:rPr>
              <a:t>Frontend</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React</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TypeScript</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Tailwind CSS</a:t>
            </a:r>
          </a:p>
          <a:p>
            <a:pPr algn="ctr">
              <a:lnSpc>
                <a:spcPts val="4480"/>
              </a:lnSpc>
              <a:spcBef>
                <a:spcPct val="0"/>
              </a:spcBef>
            </a:pPr>
            <a:endParaRPr lang="en-US" sz="3200">
              <a:solidFill>
                <a:srgbClr val="161B1C"/>
              </a:solidFill>
              <a:latin typeface="Open Sans"/>
              <a:ea typeface="Open Sans"/>
              <a:cs typeface="Open Sans"/>
              <a:sym typeface="Open Sans"/>
            </a:endParaRPr>
          </a:p>
        </p:txBody>
      </p:sp>
      <p:sp>
        <p:nvSpPr>
          <p:cNvPr id="9" name="TextBox 9"/>
          <p:cNvSpPr txBox="1"/>
          <p:nvPr/>
        </p:nvSpPr>
        <p:spPr>
          <a:xfrm>
            <a:off x="10380849" y="2068931"/>
            <a:ext cx="5922169" cy="3909683"/>
          </a:xfrm>
          <a:prstGeom prst="rect">
            <a:avLst/>
          </a:prstGeom>
        </p:spPr>
        <p:txBody>
          <a:bodyPr lIns="0" tIns="0" rIns="0" bIns="0" rtlCol="0" anchor="t">
            <a:spAutoFit/>
          </a:bodyPr>
          <a:lstStyle/>
          <a:p>
            <a:pPr algn="ctr">
              <a:lnSpc>
                <a:spcPts val="4480"/>
              </a:lnSpc>
              <a:spcBef>
                <a:spcPct val="0"/>
              </a:spcBef>
            </a:pPr>
            <a:r>
              <a:rPr lang="en-US" sz="3200">
                <a:solidFill>
                  <a:srgbClr val="161B1C"/>
                </a:solidFill>
                <a:latin typeface="Open Sans"/>
                <a:ea typeface="Open Sans"/>
                <a:cs typeface="Open Sans"/>
                <a:sym typeface="Open Sans"/>
              </a:rPr>
              <a:t>Backend</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Node.js</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Express.js</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TypeScript</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REST APIs</a:t>
            </a:r>
          </a:p>
          <a:p>
            <a:pPr algn="l">
              <a:lnSpc>
                <a:spcPts val="4480"/>
              </a:lnSpc>
              <a:spcBef>
                <a:spcPct val="0"/>
              </a:spcBef>
            </a:pPr>
            <a:endParaRPr lang="en-US" sz="3200">
              <a:solidFill>
                <a:srgbClr val="161B1C"/>
              </a:solidFill>
              <a:latin typeface="Open Sans"/>
              <a:ea typeface="Open Sans"/>
              <a:cs typeface="Open Sans"/>
              <a:sym typeface="Open Sans"/>
            </a:endParaRPr>
          </a:p>
          <a:p>
            <a:pPr algn="ctr">
              <a:lnSpc>
                <a:spcPts val="4480"/>
              </a:lnSpc>
              <a:spcBef>
                <a:spcPct val="0"/>
              </a:spcBef>
            </a:pPr>
            <a:endParaRPr lang="en-US" sz="3200">
              <a:solidFill>
                <a:srgbClr val="161B1C"/>
              </a:solidFill>
              <a:latin typeface="Open Sans"/>
              <a:ea typeface="Open Sans"/>
              <a:cs typeface="Open Sans"/>
              <a:sym typeface="Open Sans"/>
            </a:endParaRPr>
          </a:p>
        </p:txBody>
      </p:sp>
      <p:sp>
        <p:nvSpPr>
          <p:cNvPr id="10" name="TextBox 10"/>
          <p:cNvSpPr txBox="1"/>
          <p:nvPr/>
        </p:nvSpPr>
        <p:spPr>
          <a:xfrm>
            <a:off x="1708602" y="6282874"/>
            <a:ext cx="5922169" cy="1661783"/>
          </a:xfrm>
          <a:prstGeom prst="rect">
            <a:avLst/>
          </a:prstGeom>
        </p:spPr>
        <p:txBody>
          <a:bodyPr lIns="0" tIns="0" rIns="0" bIns="0" rtlCol="0" anchor="t">
            <a:spAutoFit/>
          </a:bodyPr>
          <a:lstStyle/>
          <a:p>
            <a:pPr algn="ctr">
              <a:lnSpc>
                <a:spcPts val="4480"/>
              </a:lnSpc>
              <a:spcBef>
                <a:spcPct val="0"/>
              </a:spcBef>
            </a:pPr>
            <a:r>
              <a:rPr lang="en-US" sz="3200">
                <a:solidFill>
                  <a:srgbClr val="161B1C"/>
                </a:solidFill>
                <a:latin typeface="Open Sans"/>
                <a:ea typeface="Open Sans"/>
                <a:cs typeface="Open Sans"/>
                <a:sym typeface="Open Sans"/>
              </a:rPr>
              <a:t>Database</a:t>
            </a:r>
          </a:p>
          <a:p>
            <a:pPr marL="690984" lvl="1" indent="-345492" algn="l">
              <a:lnSpc>
                <a:spcPts val="4480"/>
              </a:lnSpc>
              <a:spcBef>
                <a:spcPct val="0"/>
              </a:spcBef>
              <a:buFont typeface="Arial"/>
              <a:buChar char="•"/>
            </a:pPr>
            <a:r>
              <a:rPr lang="en-US" sz="3200">
                <a:solidFill>
                  <a:srgbClr val="161B1C"/>
                </a:solidFill>
                <a:latin typeface="Open Sans"/>
                <a:ea typeface="Open Sans"/>
                <a:cs typeface="Open Sans"/>
                <a:sym typeface="Open Sans"/>
              </a:rPr>
              <a:t>MongoDB</a:t>
            </a:r>
          </a:p>
          <a:p>
            <a:pPr algn="ctr">
              <a:lnSpc>
                <a:spcPts val="4480"/>
              </a:lnSpc>
              <a:spcBef>
                <a:spcPct val="0"/>
              </a:spcBef>
            </a:pPr>
            <a:endParaRPr lang="en-US" sz="3200">
              <a:solidFill>
                <a:srgbClr val="161B1C"/>
              </a:solidFill>
              <a:latin typeface="Open Sans"/>
              <a:ea typeface="Open Sans"/>
              <a:cs typeface="Open Sans"/>
              <a:sym typeface="Open Sans"/>
            </a:endParaRPr>
          </a:p>
        </p:txBody>
      </p:sp>
      <p:sp>
        <p:nvSpPr>
          <p:cNvPr id="11" name="TextBox 11"/>
          <p:cNvSpPr txBox="1"/>
          <p:nvPr/>
        </p:nvSpPr>
        <p:spPr>
          <a:xfrm>
            <a:off x="10533801" y="6242228"/>
            <a:ext cx="5922169" cy="3347708"/>
          </a:xfrm>
          <a:prstGeom prst="rect">
            <a:avLst/>
          </a:prstGeom>
        </p:spPr>
        <p:txBody>
          <a:bodyPr lIns="0" tIns="0" rIns="0" bIns="0" rtlCol="0" anchor="t">
            <a:spAutoFit/>
          </a:bodyPr>
          <a:lstStyle/>
          <a:p>
            <a:pPr algn="ctr">
              <a:lnSpc>
                <a:spcPts val="4480"/>
              </a:lnSpc>
              <a:spcBef>
                <a:spcPct val="0"/>
              </a:spcBef>
            </a:pPr>
            <a:r>
              <a:rPr lang="en-US" sz="3200">
                <a:solidFill>
                  <a:srgbClr val="161B1C"/>
                </a:solidFill>
                <a:latin typeface="Open Sans"/>
                <a:ea typeface="Open Sans"/>
                <a:cs typeface="Open Sans"/>
                <a:sym typeface="Open Sans"/>
              </a:rPr>
              <a:t>Development Tools</a:t>
            </a:r>
          </a:p>
          <a:p>
            <a:pPr marL="690984" lvl="1" indent="-345492" algn="just">
              <a:lnSpc>
                <a:spcPts val="4480"/>
              </a:lnSpc>
              <a:spcBef>
                <a:spcPct val="0"/>
              </a:spcBef>
              <a:buFont typeface="Arial"/>
              <a:buChar char="•"/>
            </a:pPr>
            <a:r>
              <a:rPr lang="en-US" sz="3200">
                <a:solidFill>
                  <a:srgbClr val="161B1C"/>
                </a:solidFill>
                <a:latin typeface="Open Sans"/>
                <a:ea typeface="Open Sans"/>
                <a:cs typeface="Open Sans"/>
                <a:sym typeface="Open Sans"/>
              </a:rPr>
              <a:t>VS Code</a:t>
            </a:r>
          </a:p>
          <a:p>
            <a:pPr marL="690984" lvl="1" indent="-345492" algn="just">
              <a:lnSpc>
                <a:spcPts val="4480"/>
              </a:lnSpc>
              <a:spcBef>
                <a:spcPct val="0"/>
              </a:spcBef>
              <a:buFont typeface="Arial"/>
              <a:buChar char="•"/>
            </a:pPr>
            <a:r>
              <a:rPr lang="en-US" sz="3200">
                <a:solidFill>
                  <a:srgbClr val="161B1C"/>
                </a:solidFill>
                <a:latin typeface="Open Sans"/>
                <a:ea typeface="Open Sans"/>
                <a:cs typeface="Open Sans"/>
                <a:sym typeface="Open Sans"/>
              </a:rPr>
              <a:t>GitHub</a:t>
            </a:r>
          </a:p>
          <a:p>
            <a:pPr algn="just">
              <a:lnSpc>
                <a:spcPts val="4480"/>
              </a:lnSpc>
              <a:spcBef>
                <a:spcPct val="0"/>
              </a:spcBef>
            </a:pPr>
            <a:endParaRPr lang="en-US" sz="3200">
              <a:solidFill>
                <a:srgbClr val="161B1C"/>
              </a:solidFill>
              <a:latin typeface="Open Sans"/>
              <a:ea typeface="Open Sans"/>
              <a:cs typeface="Open Sans"/>
              <a:sym typeface="Open Sans"/>
            </a:endParaRPr>
          </a:p>
          <a:p>
            <a:pPr algn="just">
              <a:lnSpc>
                <a:spcPts val="4480"/>
              </a:lnSpc>
              <a:spcBef>
                <a:spcPct val="0"/>
              </a:spcBef>
            </a:pPr>
            <a:endParaRPr lang="en-US" sz="3200">
              <a:solidFill>
                <a:srgbClr val="161B1C"/>
              </a:solidFill>
              <a:latin typeface="Open Sans"/>
              <a:ea typeface="Open Sans"/>
              <a:cs typeface="Open Sans"/>
              <a:sym typeface="Open Sans"/>
            </a:endParaRPr>
          </a:p>
          <a:p>
            <a:pPr algn="just">
              <a:lnSpc>
                <a:spcPts val="4480"/>
              </a:lnSpc>
              <a:spcBef>
                <a:spcPct val="0"/>
              </a:spcBef>
            </a:pPr>
            <a:endParaRPr lang="en-US" sz="3200">
              <a:solidFill>
                <a:srgbClr val="161B1C"/>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0" y="0"/>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TextBox 7"/>
          <p:cNvSpPr txBox="1"/>
          <p:nvPr/>
        </p:nvSpPr>
        <p:spPr>
          <a:xfrm>
            <a:off x="3435600" y="2148352"/>
            <a:ext cx="11415888" cy="6401753"/>
          </a:xfrm>
          <a:prstGeom prst="rect">
            <a:avLst/>
          </a:prstGeom>
        </p:spPr>
        <p:txBody>
          <a:bodyPr wrap="square" lIns="0" tIns="0" rIns="0" bIns="0" rtlCol="0" anchor="t">
            <a:spAutoFit/>
          </a:bodyPr>
          <a:lstStyle/>
          <a:p>
            <a:r>
              <a:rPr lang="en-IN" sz="3200" b="1" dirty="0"/>
              <a:t>Forward Chaining Algorithm</a:t>
            </a:r>
          </a:p>
          <a:p>
            <a:pPr lvl="0"/>
            <a:r>
              <a:rPr lang="en-IN" sz="3200" b="1" dirty="0"/>
              <a:t>Forward Chaining</a:t>
            </a:r>
            <a:r>
              <a:rPr lang="en-IN" sz="3200" dirty="0"/>
              <a:t> is a </a:t>
            </a:r>
            <a:r>
              <a:rPr lang="en-IN" sz="3200" b="1" dirty="0"/>
              <a:t>data-driven inference technique</a:t>
            </a:r>
            <a:r>
              <a:rPr lang="en-IN" sz="3200" dirty="0"/>
              <a:t> used in rule-based AI systems.</a:t>
            </a:r>
          </a:p>
          <a:p>
            <a:pPr lvl="0"/>
            <a:r>
              <a:rPr lang="en-IN" sz="3200" dirty="0"/>
              <a:t>It starts with </a:t>
            </a:r>
            <a:r>
              <a:rPr lang="en-IN" sz="3200" b="1" dirty="0"/>
              <a:t>known facts</a:t>
            </a:r>
            <a:r>
              <a:rPr lang="en-IN" sz="3200" dirty="0"/>
              <a:t> and applies </a:t>
            </a:r>
            <a:r>
              <a:rPr lang="en-IN" sz="3200" b="1" dirty="0"/>
              <a:t>IF–THEN rules</a:t>
            </a:r>
            <a:r>
              <a:rPr lang="en-IN" sz="3200" dirty="0"/>
              <a:t> to derive new facts and conclusions.</a:t>
            </a:r>
          </a:p>
          <a:p>
            <a:pPr lvl="0"/>
            <a:r>
              <a:rPr lang="en-IN" sz="3200" dirty="0"/>
              <a:t>In our project, it checks </a:t>
            </a:r>
            <a:r>
              <a:rPr lang="en-IN" sz="3200" b="1" dirty="0"/>
              <a:t>hackathon status, registration type, team size, and eligibility rules</a:t>
            </a:r>
            <a:r>
              <a:rPr lang="en-IN" sz="3200" dirty="0"/>
              <a:t>.</a:t>
            </a:r>
          </a:p>
          <a:p>
            <a:pPr lvl="0"/>
            <a:r>
              <a:rPr lang="en-IN" sz="3200" dirty="0"/>
              <a:t>The process continues until a </a:t>
            </a:r>
            <a:r>
              <a:rPr lang="en-IN" sz="3200" b="1" dirty="0"/>
              <a:t>team formation decision</a:t>
            </a:r>
            <a:r>
              <a:rPr lang="en-IN" sz="3200" dirty="0"/>
              <a:t> is reached.</a:t>
            </a:r>
          </a:p>
          <a:p>
            <a:r>
              <a:rPr lang="en-IN" sz="3200" b="1" dirty="0"/>
              <a:t>Flow:</a:t>
            </a:r>
            <a:br>
              <a:rPr lang="en-IN" sz="3200" dirty="0"/>
            </a:br>
            <a:r>
              <a:rPr lang="en-IN" sz="3200" b="1" dirty="0"/>
              <a:t>Facts → IF–THEN Rules → Forward Chaining → Decision</a:t>
            </a:r>
            <a:endParaRPr lang="en-IN" sz="3200" dirty="0"/>
          </a:p>
          <a:p>
            <a:r>
              <a:rPr lang="en-IN" sz="3200" b="1" dirty="0"/>
              <a:t>Example:</a:t>
            </a:r>
            <a:br>
              <a:rPr lang="en-IN" sz="3200" dirty="0"/>
            </a:br>
            <a:r>
              <a:rPr lang="en-IN" sz="3200" b="1" dirty="0"/>
              <a:t>IF</a:t>
            </a:r>
            <a:r>
              <a:rPr lang="en-IN" sz="3200" dirty="0"/>
              <a:t> hackathon is published + team has space + student is eligible</a:t>
            </a:r>
            <a:br>
              <a:rPr lang="en-IN" sz="3200" dirty="0"/>
            </a:br>
            <a:r>
              <a:rPr lang="en-IN" sz="3200" b="1" dirty="0"/>
              <a:t>THEN → Allow Team Formation</a:t>
            </a:r>
            <a:endParaRPr lang="en-IN" sz="3200" dirty="0"/>
          </a:p>
        </p:txBody>
      </p:sp>
      <p:sp>
        <p:nvSpPr>
          <p:cNvPr id="8" name="TextBox 8"/>
          <p:cNvSpPr txBox="1"/>
          <p:nvPr/>
        </p:nvSpPr>
        <p:spPr>
          <a:xfrm>
            <a:off x="4745178" y="171450"/>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Algorithm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Freeform 7"/>
          <p:cNvSpPr/>
          <p:nvPr/>
        </p:nvSpPr>
        <p:spPr>
          <a:xfrm>
            <a:off x="2337650" y="2641887"/>
            <a:ext cx="7517023" cy="3432534"/>
          </a:xfrm>
          <a:custGeom>
            <a:avLst/>
            <a:gdLst/>
            <a:ahLst/>
            <a:cxnLst/>
            <a:rect l="l" t="t" r="r" b="b"/>
            <a:pathLst>
              <a:path w="7517023" h="3432534">
                <a:moveTo>
                  <a:pt x="0" y="0"/>
                </a:moveTo>
                <a:lnTo>
                  <a:pt x="7517023" y="0"/>
                </a:lnTo>
                <a:lnTo>
                  <a:pt x="7517023" y="3432534"/>
                </a:lnTo>
                <a:lnTo>
                  <a:pt x="0" y="3432534"/>
                </a:lnTo>
                <a:lnTo>
                  <a:pt x="0" y="0"/>
                </a:lnTo>
                <a:close/>
              </a:path>
            </a:pathLst>
          </a:custGeom>
          <a:blipFill>
            <a:blip r:embed="rId5"/>
            <a:stretch>
              <a:fillRect r="-6040"/>
            </a:stretch>
          </a:blipFill>
        </p:spPr>
      </p:sp>
      <p:sp>
        <p:nvSpPr>
          <p:cNvPr id="8" name="Freeform 8"/>
          <p:cNvSpPr/>
          <p:nvPr/>
        </p:nvSpPr>
        <p:spPr>
          <a:xfrm>
            <a:off x="2202417" y="6639761"/>
            <a:ext cx="7652256" cy="3234553"/>
          </a:xfrm>
          <a:custGeom>
            <a:avLst/>
            <a:gdLst/>
            <a:ahLst/>
            <a:cxnLst/>
            <a:rect l="l" t="t" r="r" b="b"/>
            <a:pathLst>
              <a:path w="7652256" h="3234553">
                <a:moveTo>
                  <a:pt x="0" y="0"/>
                </a:moveTo>
                <a:lnTo>
                  <a:pt x="7652256" y="0"/>
                </a:lnTo>
                <a:lnTo>
                  <a:pt x="7652256" y="3234554"/>
                </a:lnTo>
                <a:lnTo>
                  <a:pt x="0" y="3234554"/>
                </a:lnTo>
                <a:lnTo>
                  <a:pt x="0" y="0"/>
                </a:lnTo>
                <a:close/>
              </a:path>
            </a:pathLst>
          </a:custGeom>
          <a:blipFill>
            <a:blip r:embed="rId6"/>
            <a:stretch>
              <a:fillRect t="-1973" b="-1973"/>
            </a:stretch>
          </a:blipFill>
        </p:spPr>
      </p:sp>
      <p:sp>
        <p:nvSpPr>
          <p:cNvPr id="9" name="TextBox 9"/>
          <p:cNvSpPr txBox="1"/>
          <p:nvPr/>
        </p:nvSpPr>
        <p:spPr>
          <a:xfrm>
            <a:off x="4539196" y="399943"/>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Output </a:t>
            </a:r>
          </a:p>
        </p:txBody>
      </p:sp>
      <p:sp>
        <p:nvSpPr>
          <p:cNvPr id="10" name="TextBox 10"/>
          <p:cNvSpPr txBox="1"/>
          <p:nvPr/>
        </p:nvSpPr>
        <p:spPr>
          <a:xfrm>
            <a:off x="-1050156" y="1885843"/>
            <a:ext cx="9209608" cy="537833"/>
          </a:xfrm>
          <a:prstGeom prst="rect">
            <a:avLst/>
          </a:prstGeom>
        </p:spPr>
        <p:txBody>
          <a:bodyPr lIns="0" tIns="0" rIns="0" bIns="0" rtlCol="0" anchor="t">
            <a:spAutoFit/>
          </a:bodyPr>
          <a:lstStyle/>
          <a:p>
            <a:pPr algn="ctr">
              <a:lnSpc>
                <a:spcPts val="4480"/>
              </a:lnSpc>
              <a:spcBef>
                <a:spcPct val="0"/>
              </a:spcBef>
            </a:pPr>
            <a:r>
              <a:rPr lang="en-US" sz="3200">
                <a:solidFill>
                  <a:srgbClr val="161B1C"/>
                </a:solidFill>
                <a:latin typeface="Open Sans"/>
                <a:ea typeface="Open Sans"/>
                <a:cs typeface="Open Sans"/>
                <a:sym typeface="Open Sans"/>
              </a:rPr>
              <a:t>Organiser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rot="5400000" flipH="1">
            <a:off x="-3306107" y="5694113"/>
            <a:ext cx="7603204" cy="1891297"/>
          </a:xfrm>
          <a:custGeom>
            <a:avLst/>
            <a:gdLst/>
            <a:ahLst/>
            <a:cxnLst/>
            <a:rect l="l" t="t" r="r" b="b"/>
            <a:pathLst>
              <a:path w="7603204" h="1891297">
                <a:moveTo>
                  <a:pt x="7603204" y="0"/>
                </a:moveTo>
                <a:lnTo>
                  <a:pt x="0" y="0"/>
                </a:lnTo>
                <a:lnTo>
                  <a:pt x="0" y="1891297"/>
                </a:lnTo>
                <a:lnTo>
                  <a:pt x="7603204" y="1891297"/>
                </a:lnTo>
                <a:lnTo>
                  <a:pt x="7603204" y="0"/>
                </a:lnTo>
                <a:close/>
              </a:path>
            </a:pathLst>
          </a:custGeom>
          <a:blipFill>
            <a:blip r:embed="rId3"/>
            <a:stretch>
              <a:fillRect/>
            </a:stretch>
          </a:blipFill>
        </p:spPr>
      </p:sp>
      <p:sp>
        <p:nvSpPr>
          <p:cNvPr id="4" name="Freeform 4"/>
          <p:cNvSpPr/>
          <p:nvPr/>
        </p:nvSpPr>
        <p:spPr>
          <a:xfrm>
            <a:off x="-450153" y="-434233"/>
            <a:ext cx="4262923" cy="5120628"/>
          </a:xfrm>
          <a:custGeom>
            <a:avLst/>
            <a:gdLst/>
            <a:ahLst/>
            <a:cxnLst/>
            <a:rect l="l" t="t" r="r" b="b"/>
            <a:pathLst>
              <a:path w="4262923" h="5120628">
                <a:moveTo>
                  <a:pt x="0" y="0"/>
                </a:moveTo>
                <a:lnTo>
                  <a:pt x="4262923" y="0"/>
                </a:lnTo>
                <a:lnTo>
                  <a:pt x="4262923" y="5120627"/>
                </a:lnTo>
                <a:lnTo>
                  <a:pt x="0" y="5120627"/>
                </a:lnTo>
                <a:lnTo>
                  <a:pt x="0" y="0"/>
                </a:lnTo>
                <a:close/>
              </a:path>
            </a:pathLst>
          </a:custGeom>
          <a:blipFill>
            <a:blip r:embed="rId4"/>
            <a:stretch>
              <a:fillRect/>
            </a:stretch>
          </a:blipFill>
        </p:spPr>
      </p:sp>
      <p:sp>
        <p:nvSpPr>
          <p:cNvPr id="5" name="Freeform 5"/>
          <p:cNvSpPr/>
          <p:nvPr/>
        </p:nvSpPr>
        <p:spPr>
          <a:xfrm rot="5400000" flipV="1">
            <a:off x="13994907" y="2627353"/>
            <a:ext cx="7603204" cy="1891297"/>
          </a:xfrm>
          <a:custGeom>
            <a:avLst/>
            <a:gdLst/>
            <a:ahLst/>
            <a:cxnLst/>
            <a:rect l="l" t="t" r="r" b="b"/>
            <a:pathLst>
              <a:path w="7603204" h="1891297">
                <a:moveTo>
                  <a:pt x="0" y="1891297"/>
                </a:moveTo>
                <a:lnTo>
                  <a:pt x="7603203" y="1891297"/>
                </a:lnTo>
                <a:lnTo>
                  <a:pt x="7603203" y="0"/>
                </a:lnTo>
                <a:lnTo>
                  <a:pt x="0" y="0"/>
                </a:lnTo>
                <a:lnTo>
                  <a:pt x="0" y="1891297"/>
                </a:lnTo>
                <a:close/>
              </a:path>
            </a:pathLst>
          </a:custGeom>
          <a:blipFill>
            <a:blip r:embed="rId3"/>
            <a:stretch>
              <a:fillRect/>
            </a:stretch>
          </a:blipFill>
        </p:spPr>
      </p:sp>
      <p:sp>
        <p:nvSpPr>
          <p:cNvPr id="6" name="Freeform 6"/>
          <p:cNvSpPr/>
          <p:nvPr/>
        </p:nvSpPr>
        <p:spPr>
          <a:xfrm flipH="1" flipV="1">
            <a:off x="14324509" y="5585433"/>
            <a:ext cx="4262923" cy="5120628"/>
          </a:xfrm>
          <a:custGeom>
            <a:avLst/>
            <a:gdLst/>
            <a:ahLst/>
            <a:cxnLst/>
            <a:rect l="l" t="t" r="r" b="b"/>
            <a:pathLst>
              <a:path w="4262923" h="5120628">
                <a:moveTo>
                  <a:pt x="4262923" y="5120628"/>
                </a:moveTo>
                <a:lnTo>
                  <a:pt x="0" y="5120628"/>
                </a:lnTo>
                <a:lnTo>
                  <a:pt x="0" y="0"/>
                </a:lnTo>
                <a:lnTo>
                  <a:pt x="4262923" y="0"/>
                </a:lnTo>
                <a:lnTo>
                  <a:pt x="4262923" y="5120628"/>
                </a:lnTo>
                <a:close/>
              </a:path>
            </a:pathLst>
          </a:custGeom>
          <a:blipFill>
            <a:blip r:embed="rId4"/>
            <a:stretch>
              <a:fillRect/>
            </a:stretch>
          </a:blipFill>
        </p:spPr>
      </p:sp>
      <p:sp>
        <p:nvSpPr>
          <p:cNvPr id="7" name="Freeform 7"/>
          <p:cNvSpPr/>
          <p:nvPr/>
        </p:nvSpPr>
        <p:spPr>
          <a:xfrm>
            <a:off x="1964038" y="2500743"/>
            <a:ext cx="7923831" cy="3382485"/>
          </a:xfrm>
          <a:custGeom>
            <a:avLst/>
            <a:gdLst/>
            <a:ahLst/>
            <a:cxnLst/>
            <a:rect l="l" t="t" r="r" b="b"/>
            <a:pathLst>
              <a:path w="7923831" h="3382485">
                <a:moveTo>
                  <a:pt x="0" y="0"/>
                </a:moveTo>
                <a:lnTo>
                  <a:pt x="7923831" y="0"/>
                </a:lnTo>
                <a:lnTo>
                  <a:pt x="7923831" y="3382486"/>
                </a:lnTo>
                <a:lnTo>
                  <a:pt x="0" y="3382486"/>
                </a:lnTo>
                <a:lnTo>
                  <a:pt x="0" y="0"/>
                </a:lnTo>
                <a:close/>
              </a:path>
            </a:pathLst>
          </a:custGeom>
          <a:blipFill>
            <a:blip r:embed="rId5"/>
            <a:stretch>
              <a:fillRect/>
            </a:stretch>
          </a:blipFill>
        </p:spPr>
      </p:sp>
      <p:sp>
        <p:nvSpPr>
          <p:cNvPr id="8" name="Freeform 8"/>
          <p:cNvSpPr/>
          <p:nvPr/>
        </p:nvSpPr>
        <p:spPr>
          <a:xfrm>
            <a:off x="1964038" y="6223187"/>
            <a:ext cx="7923831" cy="3390870"/>
          </a:xfrm>
          <a:custGeom>
            <a:avLst/>
            <a:gdLst/>
            <a:ahLst/>
            <a:cxnLst/>
            <a:rect l="l" t="t" r="r" b="b"/>
            <a:pathLst>
              <a:path w="7923831" h="3390870">
                <a:moveTo>
                  <a:pt x="0" y="0"/>
                </a:moveTo>
                <a:lnTo>
                  <a:pt x="7923831" y="0"/>
                </a:lnTo>
                <a:lnTo>
                  <a:pt x="7923831" y="3390870"/>
                </a:lnTo>
                <a:lnTo>
                  <a:pt x="0" y="3390870"/>
                </a:lnTo>
                <a:lnTo>
                  <a:pt x="0" y="0"/>
                </a:lnTo>
                <a:close/>
              </a:path>
            </a:pathLst>
          </a:custGeom>
          <a:blipFill>
            <a:blip r:embed="rId6"/>
            <a:stretch>
              <a:fillRect t="-1409" b="-1409"/>
            </a:stretch>
          </a:blipFill>
        </p:spPr>
      </p:sp>
      <p:sp>
        <p:nvSpPr>
          <p:cNvPr id="9" name="TextBox 9"/>
          <p:cNvSpPr txBox="1"/>
          <p:nvPr/>
        </p:nvSpPr>
        <p:spPr>
          <a:xfrm>
            <a:off x="4539196" y="399943"/>
            <a:ext cx="9209608" cy="1543050"/>
          </a:xfrm>
          <a:prstGeom prst="rect">
            <a:avLst/>
          </a:prstGeom>
        </p:spPr>
        <p:txBody>
          <a:bodyPr lIns="0" tIns="0" rIns="0" bIns="0" rtlCol="0" anchor="t">
            <a:spAutoFit/>
          </a:bodyPr>
          <a:lstStyle/>
          <a:p>
            <a:pPr algn="ctr">
              <a:lnSpc>
                <a:spcPts val="12599"/>
              </a:lnSpc>
            </a:pPr>
            <a:r>
              <a:rPr lang="en-US" sz="9000">
                <a:solidFill>
                  <a:srgbClr val="161B1C"/>
                </a:solidFill>
                <a:latin typeface="Sego"/>
                <a:ea typeface="Sego"/>
                <a:cs typeface="Sego"/>
                <a:sym typeface="Sego"/>
              </a:rPr>
              <a:t>Output</a:t>
            </a:r>
          </a:p>
        </p:txBody>
      </p:sp>
      <p:sp>
        <p:nvSpPr>
          <p:cNvPr id="10" name="TextBox 10"/>
          <p:cNvSpPr txBox="1"/>
          <p:nvPr/>
        </p:nvSpPr>
        <p:spPr>
          <a:xfrm>
            <a:off x="1964038" y="1630573"/>
            <a:ext cx="1518999" cy="548640"/>
          </a:xfrm>
          <a:prstGeom prst="rect">
            <a:avLst/>
          </a:prstGeom>
        </p:spPr>
        <p:txBody>
          <a:bodyPr lIns="0" tIns="0" rIns="0" bIns="0" rtlCol="0" anchor="t">
            <a:spAutoFit/>
          </a:bodyPr>
          <a:lstStyle/>
          <a:p>
            <a:pPr algn="ctr">
              <a:lnSpc>
                <a:spcPts val="4409"/>
              </a:lnSpc>
              <a:spcBef>
                <a:spcPct val="0"/>
              </a:spcBef>
            </a:pPr>
            <a:r>
              <a:rPr lang="en-US" sz="3150">
                <a:solidFill>
                  <a:srgbClr val="161B1C"/>
                </a:solidFill>
                <a:latin typeface="Sego"/>
                <a:ea typeface="Sego"/>
                <a:cs typeface="Sego"/>
                <a:sym typeface="Sego"/>
              </a:rPr>
              <a:t>Students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flipV="1">
            <a:off x="-328064" y="5377270"/>
            <a:ext cx="4262923" cy="5120628"/>
          </a:xfrm>
          <a:custGeom>
            <a:avLst/>
            <a:gdLst/>
            <a:ahLst/>
            <a:cxnLst/>
            <a:rect l="l" t="t" r="r" b="b"/>
            <a:pathLst>
              <a:path w="4262923" h="5120628">
                <a:moveTo>
                  <a:pt x="0" y="5120628"/>
                </a:moveTo>
                <a:lnTo>
                  <a:pt x="4262923" y="5120628"/>
                </a:lnTo>
                <a:lnTo>
                  <a:pt x="4262923" y="0"/>
                </a:lnTo>
                <a:lnTo>
                  <a:pt x="0" y="0"/>
                </a:lnTo>
                <a:lnTo>
                  <a:pt x="0" y="5120628"/>
                </a:lnTo>
                <a:close/>
              </a:path>
            </a:pathLst>
          </a:custGeom>
          <a:blipFill>
            <a:blip r:embed="rId3"/>
            <a:stretch>
              <a:fillRect/>
            </a:stretch>
          </a:blipFill>
        </p:spPr>
      </p:sp>
      <p:sp>
        <p:nvSpPr>
          <p:cNvPr id="4" name="Freeform 4"/>
          <p:cNvSpPr/>
          <p:nvPr/>
        </p:nvSpPr>
        <p:spPr>
          <a:xfrm>
            <a:off x="-908719" y="7786423"/>
            <a:ext cx="16230600" cy="4037362"/>
          </a:xfrm>
          <a:custGeom>
            <a:avLst/>
            <a:gdLst/>
            <a:ahLst/>
            <a:cxnLst/>
            <a:rect l="l" t="t" r="r" b="b"/>
            <a:pathLst>
              <a:path w="16230600" h="4037362">
                <a:moveTo>
                  <a:pt x="0" y="0"/>
                </a:moveTo>
                <a:lnTo>
                  <a:pt x="16230600" y="0"/>
                </a:lnTo>
                <a:lnTo>
                  <a:pt x="16230600" y="4037362"/>
                </a:lnTo>
                <a:lnTo>
                  <a:pt x="0" y="4037362"/>
                </a:lnTo>
                <a:lnTo>
                  <a:pt x="0" y="0"/>
                </a:lnTo>
                <a:close/>
              </a:path>
            </a:pathLst>
          </a:custGeom>
          <a:blipFill>
            <a:blip r:embed="rId4"/>
            <a:stretch>
              <a:fillRect/>
            </a:stretch>
          </a:blipFill>
        </p:spPr>
      </p:sp>
      <p:sp>
        <p:nvSpPr>
          <p:cNvPr id="5" name="Freeform 5"/>
          <p:cNvSpPr/>
          <p:nvPr/>
        </p:nvSpPr>
        <p:spPr>
          <a:xfrm rot="-10800000">
            <a:off x="2905706" y="-1561569"/>
            <a:ext cx="16230600" cy="4037362"/>
          </a:xfrm>
          <a:custGeom>
            <a:avLst/>
            <a:gdLst/>
            <a:ahLst/>
            <a:cxnLst/>
            <a:rect l="l" t="t" r="r" b="b"/>
            <a:pathLst>
              <a:path w="16230600" h="4037362">
                <a:moveTo>
                  <a:pt x="0" y="0"/>
                </a:moveTo>
                <a:lnTo>
                  <a:pt x="16230600" y="0"/>
                </a:lnTo>
                <a:lnTo>
                  <a:pt x="16230600" y="4037361"/>
                </a:lnTo>
                <a:lnTo>
                  <a:pt x="0" y="4037361"/>
                </a:lnTo>
                <a:lnTo>
                  <a:pt x="0" y="0"/>
                </a:lnTo>
                <a:close/>
              </a:path>
            </a:pathLst>
          </a:custGeom>
          <a:blipFill>
            <a:blip r:embed="rId4"/>
            <a:stretch>
              <a:fillRect/>
            </a:stretch>
          </a:blipFill>
        </p:spPr>
      </p:sp>
      <p:sp>
        <p:nvSpPr>
          <p:cNvPr id="6" name="Freeform 6"/>
          <p:cNvSpPr/>
          <p:nvPr/>
        </p:nvSpPr>
        <p:spPr>
          <a:xfrm flipH="1">
            <a:off x="14260813" y="-84522"/>
            <a:ext cx="4262923" cy="5120628"/>
          </a:xfrm>
          <a:custGeom>
            <a:avLst/>
            <a:gdLst/>
            <a:ahLst/>
            <a:cxnLst/>
            <a:rect l="l" t="t" r="r" b="b"/>
            <a:pathLst>
              <a:path w="4262923" h="5120628">
                <a:moveTo>
                  <a:pt x="4262923" y="0"/>
                </a:moveTo>
                <a:lnTo>
                  <a:pt x="0" y="0"/>
                </a:lnTo>
                <a:lnTo>
                  <a:pt x="0" y="5120628"/>
                </a:lnTo>
                <a:lnTo>
                  <a:pt x="4262923" y="5120628"/>
                </a:lnTo>
                <a:lnTo>
                  <a:pt x="4262923" y="0"/>
                </a:lnTo>
                <a:close/>
              </a:path>
            </a:pathLst>
          </a:custGeom>
          <a:blipFill>
            <a:blip r:embed="rId3"/>
            <a:stretch>
              <a:fillRect/>
            </a:stretch>
          </a:blipFill>
        </p:spPr>
      </p:sp>
      <p:sp>
        <p:nvSpPr>
          <p:cNvPr id="7" name="TextBox 7"/>
          <p:cNvSpPr txBox="1"/>
          <p:nvPr/>
        </p:nvSpPr>
        <p:spPr>
          <a:xfrm>
            <a:off x="2069346" y="3453911"/>
            <a:ext cx="14149309" cy="3036279"/>
          </a:xfrm>
          <a:prstGeom prst="rect">
            <a:avLst/>
          </a:prstGeom>
        </p:spPr>
        <p:txBody>
          <a:bodyPr lIns="0" tIns="0" rIns="0" bIns="0" rtlCol="0" anchor="t">
            <a:spAutoFit/>
          </a:bodyPr>
          <a:lstStyle/>
          <a:p>
            <a:pPr algn="ctr">
              <a:lnSpc>
                <a:spcPts val="24796"/>
              </a:lnSpc>
            </a:pPr>
            <a:r>
              <a:rPr lang="en-US" sz="17711">
                <a:solidFill>
                  <a:srgbClr val="161B1C"/>
                </a:solidFill>
                <a:latin typeface="Sego"/>
                <a:ea typeface="Sego"/>
                <a:cs typeface="Sego"/>
                <a:sym typeface="Sego"/>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508</Words>
  <Application>Microsoft Office PowerPoint</Application>
  <PresentationFormat>Custom</PresentationFormat>
  <Paragraphs>61</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DM Sans</vt:lpstr>
      <vt:lpstr>Arial</vt:lpstr>
      <vt:lpstr>Open Sans</vt:lpstr>
      <vt:lpstr>Nyutro Sans</vt:lpstr>
      <vt:lpstr>Sego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omput</dc:title>
  <dc:creator>Mukundhan MV</dc:creator>
  <cp:lastModifiedBy>Mukundhan MV</cp:lastModifiedBy>
  <cp:revision>2</cp:revision>
  <dcterms:created xsi:type="dcterms:W3CDTF">2006-08-16T00:00:00Z</dcterms:created>
  <dcterms:modified xsi:type="dcterms:W3CDTF">2026-09-29T03:50:16Z</dcterms:modified>
  <dc:identifier>DAHVMQ5Sc4o</dc:identifier>
</cp:coreProperties>
</file>